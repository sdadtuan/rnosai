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g1-agenda.jpg" ContentType="image/jpg"/>
  <Override PartName="/ppt/media/g1-cover.jpg" ContentType="image/jpg"/>
  <Override PartName="/ppt/media/g1-divider.jpg" ContentType="image/jpg"/>
  <Override PartName="/ppt/media/g2-hientrang.jpg" ContentType="image/jpg"/>
  <Override PartName="/ppt/media/g3-diemban.jpg" ContentType="image/jpg"/>
  <Override PartName="/ppt/media/g4-dinhvi.jpg" ContentType="image/jpg"/>
  <Override PartName="/ppt/media/g6-giuchan.jpg" ContentType="image/jpg"/>
  <Override PartName="/ppt/media/g7-trainghiem.jpg" ContentType="image/jpg"/>
  <Override PartName="/ppt/media/g8-camon.jpg" ContentType="image/jpg"/>
  <Override PartName="/ppt/media/g8-chot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7" r:id="rId18"/>
    <p:sldId id="266" r:id="rId12"/>
    <p:sldId id="273" r:id="rId24"/>
    <p:sldId id="282" r:id="rId33"/>
    <p:sldId id="265" r:id="rId11"/>
    <p:sldId id="261" r:id="rId7"/>
    <p:sldId id="271" r:id="rId22"/>
    <p:sldId id="275" r:id="rId26"/>
    <p:sldId id="278" r:id="rId29"/>
    <p:sldId id="269" r:id="rId20"/>
    <p:sldId id="263" r:id="rId9"/>
    <p:sldId id="259" r:id="rId5"/>
    <p:sldId id="276" r:id="rId27"/>
    <p:sldId id="270" r:id="rId21"/>
    <p:sldId id="262" r:id="rId8"/>
    <p:sldId id="274" r:id="rId25"/>
    <p:sldId id="264" r:id="rId10"/>
    <p:sldId id="283" r:id="rId34"/>
    <p:sldId id="281" r:id="rId32"/>
    <p:sldId id="284" r:id="rId35"/>
    <p:sldId id="277" r:id="rId28"/>
    <p:sldId id="285" r:id="rId36"/>
    <p:sldId id="279" r:id="rId30"/>
    <p:sldId id="286" r:id="rId37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9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15.xml"/><Relationship Id="rId10" Type="http://schemas.openxmlformats.org/officeDocument/2006/relationships/slide" Target="slides/slide8.xml"/><Relationship Id="rId11" Type="http://schemas.openxmlformats.org/officeDocument/2006/relationships/slide" Target="slides/slide6.xml"/><Relationship Id="rId12" Type="http://schemas.openxmlformats.org/officeDocument/2006/relationships/slide" Target="slides/slide2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3.xml"/><Relationship Id="rId30" Type="http://schemas.openxmlformats.org/officeDocument/2006/relationships/slide" Target="slides/slide28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1">
                <a:solidFill>
                  <a:srgbClr val="1E4D2B"/>
                </a:solidFill>
                <a:latin typeface="Be Vietnam Pro"/>
              </a:defRPr>
            </a:pPr>
            <a:r>
              <a:rPr lang="vi-VN" sz="1300" b="1">
                <a:solidFill>
                  <a:srgbClr val="1E4D2B"/>
                </a:solidFill>
                <a:latin typeface="Be Vietnam Pro"/>
              </a:rPr>
              <a:t>Tỷ trọng theo chiến dịch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 (%)</c:v>
                </c:pt>
              </c:strCache>
            </c:strRef>
          </c:tx>
          <c:dPt>
            <c:idx val="0"/>
            <c:spPr>
              <a:solidFill>
                <a:srgbClr val="1E4D2B"/>
              </a:solidFill>
            </c:spPr>
          </c:dPt>
          <c:dPt>
            <c:idx val="1"/>
            <c:spPr>
              <a:solidFill>
                <a:srgbClr val="A9864E"/>
              </a:solidFill>
            </c:spPr>
          </c:dPt>
          <c:dPt>
            <c:idx val="2"/>
            <c:spPr>
              <a:solidFill>
                <a:srgbClr val="5E7D62"/>
              </a:solidFill>
            </c:spPr>
          </c:dPt>
          <c:dPt>
            <c:idx val="3"/>
            <c:spPr>
              <a:solidFill>
                <a:srgbClr val="C9B286"/>
              </a:solidFill>
            </c:spPr>
          </c:dPt>
          <c:cat>
            <c:strRef>
              <c:f>Sheet1!$A$2:$A$5</c:f>
              <c:strCache>
                <c:ptCount val="4"/>
                <c:pt idx="0">
                  <c:v>FB/IG: tin nhắn, quà tặng</c:v>
                </c:pt>
                <c:pt idx="1">
                  <c:v>FB/IG: bám đuổi</c:v>
                </c:pt>
                <c:pt idx="2">
                  <c:v>TikTok: đẩy video</c:v>
                </c:pt>
                <c:pt idx="3">
                  <c:v>Google Maps, tìm kiếm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AF8F3"/>
                  </a:solidFill>
                  <a:latin typeface="Be Vietnam Pr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latin typeface="Be Vietnam Pr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Be Vietnam Pr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24 tr / tháng</c:v>
                </c:pt>
              </c:strCache>
            </c:strRef>
          </c:tx>
          <c:spPr>
            <a:solidFill>
              <a:srgbClr val="1E4D2B"/>
            </a:solidFill>
          </c:spPr>
          <c:cat>
            <c:strRef>
              <c:f>Sheet1!$A$2:$A$4</c:f>
              <c:strCache>
                <c:ptCount val="3"/>
                <c:pt idx="0">
                  <c:v>Khách đến</c:v>
                </c:pt>
                <c:pt idx="1">
                  <c:v>Lịch hẹn</c:v>
                </c:pt>
                <c:pt idx="2">
                  <c:v>Tin nhắn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80</c:v>
                </c:pt>
                <c:pt idx="2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 tr / tháng</c:v>
                </c:pt>
              </c:strCache>
            </c:strRef>
          </c:tx>
          <c:spPr>
            <a:solidFill>
              <a:srgbClr val="A9864E"/>
            </a:solidFill>
          </c:spPr>
          <c:cat>
            <c:strRef>
              <c:f>Sheet1!$A$2:$A$4</c:f>
              <c:strCache>
                <c:ptCount val="3"/>
                <c:pt idx="0">
                  <c:v>Khách đến</c:v>
                </c:pt>
                <c:pt idx="1">
                  <c:v>Lịch hẹn</c:v>
                </c:pt>
                <c:pt idx="2">
                  <c:v>Tin nhắn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100</c:v>
                </c:pt>
                <c:pt idx="2">
                  <c:v>400</c:v>
                </c:pt>
              </c:numCache>
            </c:numRef>
          </c:val>
        </c:ser>
        <c:dLbls>
          <c:numFmt formatCode="&quot;~&quot;0" sourceLinked="0"/>
          <c:txPr>
            <a:bodyPr/>
            <a:lstStyle/>
            <a:p>
              <a:pPr>
                <a:defRPr sz="1200" b="1">
                  <a:solidFill>
                    <a:srgbClr val="2B2B26"/>
                  </a:solidFill>
                  <a:latin typeface="Be Vietnam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6"/>
                </a:solidFill>
                <a:latin typeface="Be Vietnam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6"/>
                </a:solidFill>
                <a:latin typeface="Be Vietnam Pr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Be Vietnam Pr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massage thấp nhất</c:v>
                </c:pt>
              </c:strCache>
            </c:strRef>
          </c:tx>
          <c:spPr>
            <a:solidFill>
              <a:srgbClr val="C9B48A"/>
            </a:solidFill>
          </c:spPr>
          <c:cat>
            <c:strRef>
              <c:f>Sheet1!$A$2:$A$7</c:f>
              <c:strCache>
                <c:ptCount val="6"/>
                <c:pt idx="0">
                  <c:v>Dưỡng Sinh Bà Ba</c:v>
                </c:pt>
                <c:pt idx="1">
                  <c:v>Dưỡng Sinh Cô Ba</c:v>
                </c:pt>
                <c:pt idx="2">
                  <c:v>Rêu Spa</c:v>
                </c:pt>
                <c:pt idx="3">
                  <c:v>TĨNH VIÊN</c:v>
                </c:pt>
                <c:pt idx="4">
                  <c:v>Miyako Spa</c:v>
                </c:pt>
                <c:pt idx="5">
                  <c:v>Nguyệt Lâu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329</c:v>
                </c:pt>
                <c:pt idx="1">
                  <c:v>299</c:v>
                </c:pt>
                <c:pt idx="2">
                  <c:v>390</c:v>
                </c:pt>
                <c:pt idx="3">
                  <c:v>489</c:v>
                </c:pt>
                <c:pt idx="4">
                  <c:v>750</c:v>
                </c:pt>
                <c:pt idx="5">
                  <c:v>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Giá massage cao nhất</c:v>
                </c:pt>
              </c:strCache>
            </c:strRef>
          </c:tx>
          <c:spPr>
            <a:solidFill>
              <a:srgbClr val="1E4D2B"/>
            </a:solidFill>
          </c:spPr>
          <c:cat>
            <c:strRef>
              <c:f>Sheet1!$A$2:$A$7</c:f>
              <c:strCache>
                <c:ptCount val="6"/>
                <c:pt idx="0">
                  <c:v>Dưỡng Sinh Bà Ba</c:v>
                </c:pt>
                <c:pt idx="1">
                  <c:v>Dưỡng Sinh Cô Ba</c:v>
                </c:pt>
                <c:pt idx="2">
                  <c:v>Rêu Spa</c:v>
                </c:pt>
                <c:pt idx="3">
                  <c:v>TĨNH VIÊN</c:v>
                </c:pt>
                <c:pt idx="4">
                  <c:v>Miyako Spa</c:v>
                </c:pt>
                <c:pt idx="5">
                  <c:v>Nguyệt Lâu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329</c:v>
                </c:pt>
                <c:pt idx="1">
                  <c:v>439</c:v>
                </c:pt>
                <c:pt idx="2">
                  <c:v>590</c:v>
                </c:pt>
                <c:pt idx="3">
                  <c:v>829</c:v>
                </c:pt>
                <c:pt idx="4">
                  <c:v>1100</c:v>
                </c:pt>
                <c:pt idx="5">
                  <c:v>1190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2B2B26"/>
                  </a:solidFill>
                  <a:latin typeface="Be Vietnam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6"/>
                </a:solidFill>
                <a:latin typeface="Be Vietnam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100"/>
                  <a:t>nghìn đ / lượt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6"/>
                </a:solidFill>
                <a:latin typeface="Be Vietnam Pr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Be Vietnam Pro"/>
            </a:defRPr>
          </a:pPr>
        </a:p>
      </c:txPr>
    </c:legend>
    <c:dispBlanksAs val="gap"/>
  </c:chart>
  <c:txPr>
    <a:bodyPr/>
    <a:lstStyle/>
    <a:p>
      <a:pPr>
        <a:defRPr sz="1200">
          <a:latin typeface="Be Vietnam Pro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Bìa kế hoạch tiếp thị tích hợp cho Massage Tĩnh Viên.</a:t>
            </a:r>
            <a:endParaRPr lang="en-US" dirty="0"/>
          </a:p>
          <a:p>
            <a:r>
              <a:rPr lang="en-US" dirty="0"/>
              <a:t>Thông tin khách: 151 Hòa Hưng, P. Hòa Hưng, TP.HCM; mở cửa 9:30–21:30 mỗi ngày; hotline/Zalo 0927.717.717. Nguồn: https://massagetinhvien.com/ ; https://massagetinhvien.com/he-thong-cn</a:t>
            </a:r>
            <a:endParaRPr lang="en-US" dirty="0"/>
          </a:p>
          <a:p>
            <a:r>
              <a:rPr lang="en-US" dirty="0"/>
              <a:t>Tagline của tiệm: "Chạm tĩnh thân tâm – An yên trọn vẹn".</a:t>
            </a:r>
            <a:endParaRPr lang="en-US" dirty="0"/>
          </a:p>
          <a:p>
            <a:r>
              <a:rPr lang="en-US" dirty="0"/>
              <a:t>Ảnh: fb-10-interior-moongate-plants.jpg (Facebook Massage Tĩnh Viên, https://www.facebook.com/massagetinhvien).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lục: 8 phần chính (I–VIII) theo dàn ý 27 trang đã duyệt; cột phải là 8 trang trọng tâm của đề xuất.</a:t>
            </a:r>
            <a:endParaRPr lang="en-US" dirty="0"/>
          </a:p>
          <a:p>
            <a:r>
              <a:rPr lang="en-US" dirty="0"/>
              <a:t>Ảnh: fb-05-interior-lounge.jpg (Facebook Massage Tĩnh Viên, https://www.facebook.com/massagetinhvien).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Quảng cáo Facebook/Instagram (đề xuất PTT). Ngân sách tổng 800.000–1.000.000 đ/ngày ≈ 24–30 triệu/tháng, khách trả thẳng Meta.</a:t>
            </a:r>
            <a:endParaRPr lang="en-US" dirty="0"/>
          </a:p>
          <a:p>
            <a:r>
              <a:rPr lang="en-US" dirty="0"/>
              <a:t>Giờ vàng: banner Facebook fb-14 (fb-14-promo-golden-hour.jpg, https://www.facebook.com/massagetinhvien): 9h30–13h, T2–T5, giảm trực tiếp 50–100K cho các gói massage.</a:t>
            </a:r>
            <a:endParaRPr lang="en-US" dirty="0"/>
          </a:p>
          <a:p>
            <a:r>
              <a:rPr lang="en-US" dirty="0"/>
              <a:t>Ưu đãi khác đang có (ảnh FB fb-16, fb-13, fb-15): cuối tuần giảm 20% + voucher 100k; voucher sinh nhật; Hỏa Liệu Hoạt Lạc 799k › 669k/90'.</a:t>
            </a:r>
            <a:endParaRPr lang="en-US" dirty="0"/>
          </a:p>
          <a:p>
            <a:r>
              <a:rPr lang="en-US" dirty="0"/>
              <a:t>Địa chỉ 151 Hòa Hưng, P. Hòa Hưng (https://massagetinhvien.com/he-thong-cn). Website có GTM-575WZ7H8 nhưng chưa thấy Meta Pixel: cần cài trước khi chạy chiến dịch.</a:t>
            </a:r>
            <a:endParaRPr lang="en-US" dirty="0"/>
          </a:p>
          <a:p>
            <a:r>
              <a:rPr lang="en-US" dirty="0"/>
              <a:t>Ảnh: web-24 massage đá nóng (massagetinhvien.com).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Tĩnh Viên hôm nay. 20+ chuyên viên, 20+ phòng, 999+ khách, 5+ năm: số tiệm tự công bố trên trang chủ https://massagetinhvien.com/ .</a:t>
            </a:r>
            <a:endParaRPr lang="en-US" dirty="0"/>
          </a:p>
          <a:p>
            <a:r>
              <a:rPr lang="en-US" dirty="0"/>
              <a:t>Giờ mở cửa 9:30–21:30 tất cả các ngày (trang chủ; Fresha). Địa chỉ duy nhất 151 Hòa Hưng: https://massagetinhvien.com/he-thong-cn</a:t>
            </a:r>
            <a:endParaRPr lang="en-US" dirty="0"/>
          </a:p>
          <a:p>
            <a:r>
              <a:rPr lang="en-US" dirty="0"/>
              <a:t>Công suất 25–30 khách cùng lúc (bài PR, tự công bố): https://vntravel.org.vn/massage-tinh-vien-hanh-trinh-cham-soc-than-tam-tri-giua-nhip-song-hien-dai-a9034.html</a:t>
            </a:r>
            <a:endParaRPr lang="en-US" dirty="0"/>
          </a:p>
          <a:p>
            <a:r>
              <a:rPr lang="en-US" dirty="0"/>
              <a:t>Tiện ích (xông ướt/khô, khu gội, phòng massage): ảnh web-17, web-18, web-15 trên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website https://massagetinhvien.com/ (research.md mục 6, crawl 08/10/2026): WordPress + Flatsome + Yoast; title trang chủ chỉ 'Massage Tĩnh Viên'; og:description trống, meta description chỉ có địa chỉ + hotline; trang chủ 8 thẻ H1; /dich-vu, /bang-gia, /gioi-thieu không có H1, không có meta description; không có schema LocalBusiness/DaySpa; blog 3 bài cùng ngày 13/3/2026 (17–19 lượt xem/bài); WooCommerce cài nhưng /san-pham trống; có GTM-575WZ7H8, không thấy Meta Pixel / TikTok Pixel trong HTML (có thể nằm trong GTM, chưa kiểm tra được).</a:t>
            </a:r>
            <a:endParaRPr lang="en-US" dirty="0"/>
          </a:p>
          <a:p>
            <a:r>
              <a:rPr lang="en-US" dirty="0"/>
              <a:t>Các hướng sửa là đề xuất của PTT. Ảnh: chụp màn hình trang chủ 08/10/2026.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Ưu đãi &amp; giữ chân. Đang có (banner Facebook https://www.facebook.com/massagetinhvien): giờ vàng 9h30–13h T2–T5 giảm trực tiếp 50–100K gói massage (fb-14); voucher sinh nhật / 'tặng gì cho người thương' (fb-13); cuối tuần giảm 20% + voucher 100k (fb-16).</a:t>
            </a:r>
            <a:endParaRPr lang="en-US" dirty="0"/>
          </a:p>
          <a:p>
            <a:r>
              <a:rPr lang="en-US" dirty="0"/>
              <a:t>Đề xuất PTT: bán voucher qua WooCommerce đã cài trên website (/san-pham hiện trống); thẻ thành viên / gói liệu trình mua 5 tặng 1 [cần chốt]; ưu đãi giới thiệu bạn [cần chốt mức].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Phễu tích hợp (đề xuất PTT): Thu hút (Reels FB/IG, TikTok @massagetinhvien) › Cân nhắc (Google Maps CID 2894546619042347014, website sau khi sửa SEO, fanpage) › Đặt lịch (Messenger m.me/massagetinhvien, Zalo 0927.717.717, form /dat-lich; lead về CRM rs.pttads.vn) › Quay lại &amp; giới thiệu (Zalo OA, thẻ thành viên [cần chốt], voucher quà tặng, xin đánh giá Google).</a:t>
            </a:r>
            <a:endParaRPr lang="en-US" dirty="0"/>
          </a:p>
          <a:p>
            <a:r>
              <a:rPr lang="en-US" dirty="0"/>
              <a:t>Kênh hiện có theo footer website: https://massagetinhvien.com/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kịch bản video mẫu (đề xuất PTT). Giá và liệu trình theo https://massagetinhvien.com/dich-vu : Hương Mộc Tĩnh Tâm 30'/10 bước 149k; Khai Lạc Dưỡng Khí 60' (bấm huyệt + đá nóng) 489k. Tiện ích gội vòm nước, xông hơi, thưởng trà: ảnh web-23, web-17/18, web-21.</a:t>
            </a:r>
            <a:endParaRPr lang="en-US" dirty="0"/>
          </a:p>
          <a:p>
            <a:r>
              <a:rPr lang="en-US" dirty="0"/>
              <a:t>Giờ vàng 9h30–13h T2–T5 giảm 50–100K: banner FB fb-14. Hotline/Zalo 0927.717.717 (trang chủ).</a:t>
            </a:r>
            <a:endParaRPr lang="en-US" dirty="0"/>
          </a:p>
          <a:p>
            <a:r>
              <a:rPr lang="en-US" dirty="0"/>
              <a:t>Góc cặp đôi: bài 24h 'điểm hẹn hò chữa lành'. Phòng đôi: [cần chốt].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Định vị đề xuất 'cao cấp vừa túi tiền' (research.md mục 7, nhận xét): massage 90' 669k so với 990k của Nguyệt Lâu, Miyako 750k–1.100k; cao hơn nhóm gội dưỡng sinh bình dân (Cô Ba, Bà Ba, Rêu) nhưng đã gồm VAT, xông hơi ướt/khô, ngâm chân, ăn nhẹ.</a:t>
            </a:r>
            <a:endParaRPr lang="en-US" dirty="0"/>
          </a:p>
          <a:p>
            <a:r>
              <a:rPr lang="en-US" dirty="0"/>
              <a:t>Tagline của tiệm: 'Tĩnh Viên – Chạm tĩnh thân tâm – An yên trọn vẹn' (https://massagetinhvien.com/).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gian &amp; trải nghiệm. Ảnh thật: web-17 phòng xông ướt, web-18 phòng xông khô (massagetinhvien.com), fb-08 khay trà thảo dược (facebook.com/massagetinhvien).</a:t>
            </a:r>
            <a:endParaRPr lang="en-US" dirty="0"/>
          </a:p>
          <a:p>
            <a:r>
              <a:rPr lang="en-US" dirty="0"/>
              <a:t>Quy trình 10/20/25 bước và cam kết dầu gội 3 KHÔNG (không Sulfate, Silicon, Paraben): https://massagetinhvien.com/dich-vu ; /huong-moc-tinh-tam-10b ; /an-nhien-thao-duoc-20-buoc ; /thien-huong-an-lac-goi-canh-25-buoc</a:t>
            </a:r>
            <a:endParaRPr lang="en-US" dirty="0"/>
          </a:p>
          <a:p>
            <a:r>
              <a:rPr lang="en-US" dirty="0"/>
              <a:t>Mọi gói massage gồm xông hơi ướt/khô, ngâm chân, xông mũi, chườm ấm, thưởng trà.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Dịch vụ &amp; bảng giá (giá ưu đãi / giá gốc) theo https://massagetinhvien.com/dich-vu và ảnh bảng giá web-05.</a:t>
            </a:r>
            <a:endParaRPr lang="en-US" dirty="0"/>
          </a:p>
          <a:p>
            <a:r>
              <a:rPr lang="en-US" dirty="0"/>
              <a:t>Gội: Hương Mộc Tĩnh Tâm 30'/10 bước 149k (179k); An Nhiên Thảo Dược 60'/20 bước 299k (359k); Thiền Hương An Lạc 90'/25 bước 419k (499k).</a:t>
            </a:r>
            <a:endParaRPr lang="en-US" dirty="0"/>
          </a:p>
          <a:p>
            <a:r>
              <a:rPr lang="en-US" dirty="0"/>
              <a:t>Massage: Khai Lạc Dưỡng Khí 60' 489k (589k); Thư Cân Kinh Mạch, Ôn Hòa Dưỡng Thân, Hỏa Liệu Hoạt Lạc 90' 669k (799k); Ngự Dưỡng Phục Nguyên 120' 829k (989k).</a:t>
            </a:r>
            <a:endParaRPr lang="en-US" dirty="0"/>
          </a:p>
          <a:p>
            <a:r>
              <a:rPr lang="en-US" dirty="0"/>
              <a:t>Combo 1/2/3: 750k / 900k / 1.050k (120/150/180'). Lưu ý: giá gốc Combo 2 và 3 bị đảo giữa website và ảnh bảng giá.</a:t>
            </a:r>
            <a:endParaRPr lang="en-US" dirty="0"/>
          </a:p>
          <a:p>
            <a:r>
              <a:rPr lang="en-US" dirty="0"/>
              <a:t>Chính sách: giá đã gồm VAT, xông hơi ướt/khô, ngâm chân, ăn nhẹ (trang chủ, /dich-vu).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 chủ đạo dựa trên tagline của tiệm 'Chạm tĩnh thân tâm – An yên trọn vẹn' và banner 'Một khoảng lặng để cơ thể được thả lỏng' (https://massagetinhvien.com/). 'Một khoảng lặng giữa Sài Gòn' là đề xuất của PTT.</a:t>
            </a:r>
            <a:endParaRPr lang="en-US" dirty="0"/>
          </a:p>
          <a:p>
            <a:r>
              <a:rPr lang="en-US" dirty="0"/>
              <a:t>Trụ cột 1: quy trình 10/20/25 bước công bố trên các trang dịch vụ; trụ cột 2: giá đã gồm VAT, xông hơi, ngâm chân, ăn nhẹ (/dich-vu); trụ cột 3: hiện thiếu review (Fresha, Ohbeauti chưa có; FB 4 đánh giá).</a:t>
            </a:r>
            <a:endParaRPr lang="en-US" dirty="0"/>
          </a:p>
          <a:p>
            <a:r>
              <a:rPr lang="en-US" dirty="0"/>
              <a:t>Ảnh: web-22 gội đầu thảo dược (massagetinhvien.com).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Maps &amp; SEO địa phương (đề xuất PTT). Hiện trạng: place 'Massage Tĩnh Viên' (CID 2894546619042347014) nhúng trên website, rating [chưa rõ]; audit website research.md mục 6 (8 H1, thiếu H1/meta trang con, không schema LocalBusiness, blog 3 bài ngày 13/3/2026); lệch thông tin: 2 email, hotline Ohbeauti 0399442881, giá gốc combo đảo.</a:t>
            </a:r>
            <a:endParaRPr lang="en-US" dirty="0"/>
          </a:p>
          <a:p>
            <a:r>
              <a:rPr lang="en-US" dirty="0"/>
              <a:t>Đường Hòa Hưng thuộc Quận 10 theo địa giới cũ (suy luận, cần khách xác nhận). Không mua đánh giá: theo chính sách nội dung của Google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Fanpage &amp; đánh giá. Facebook https://www.facebook.com/massagetinhvien : 1,4K người theo dõi; 4 đánh giá, trang hiển thị 'Not yet rated'; bài gần nhất (video liệu trình) ~2 lượt cảm xúc; nội dung chủ yếu banner khuyến mãi / kiến thức. Nguồn: xem trực tiếp trang công khai ngày 08/10/2026.</a:t>
            </a:r>
            <a:endParaRPr lang="en-US" dirty="0"/>
          </a:p>
          <a:p>
            <a:r>
              <a:rPr lang="en-US" dirty="0"/>
              <a:t>Fresha: 'No reviews yet' https://www.fresha.com/a/massage-tinh-vien-thanh-pho-ho-chi-minh-hoa-hung-151-hoa-hung-f05yoal0 ; Ohbeauti: 'Chưa có đánh giá', hotline 0399442881 https://ohbeauti.vn/spa/massage-tinh-vien</a:t>
            </a:r>
            <a:endParaRPr lang="en-US" dirty="0"/>
          </a:p>
          <a:p>
            <a:r>
              <a:rPr lang="en-US" dirty="0"/>
              <a:t>Google Maps: không lấy được rating / số review [cần chốt].</a:t>
            </a:r>
            <a:endParaRPr lang="en-US" dirty="0"/>
          </a:p>
          <a:p>
            <a:r>
              <a:rPr lang="en-US" dirty="0"/>
              <a:t>Lệch dữ liệu (research.md mục 3, 2): giá gốc Combo 2/3 đảo giữa website và ảnh bảng giá; thẻ Ôn Hòa Dưỡng Thân lặp với giá vô lý; email spatinhvien@gmail.com và Minguyennhan@gmail.com.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chân dung khách, suy ra từ nội dung của chính tiệm (research.md mục 5): blog 2/3 bài về cổ vai gáy; bài 24h 'điểm hẹn hò chữa lành của người trẻ Sài thành' https://kpt.24h.com.vn/tin-tuc-suc-khoe/tinh-vien-massage-diem-hen-ho-chua-lanh-cua-nguoi-tre-sai-thanh-c683prv1770545.html ; blog rụng tóc / quà 8/3; An Nhiên Thảo Dược dành cho người lớn tuổi; khách du lịch, khách đoàn theo vntravel.org.vn.</a:t>
            </a:r>
            <a:endParaRPr lang="en-US" dirty="0"/>
          </a:p>
          <a:p>
            <a:r>
              <a:rPr lang="en-US" dirty="0"/>
              <a:t>Câu thông điệp là đề xuất của PTT. Phòng đôi cho cặp đôi: [cần chốt]. Website chưa có bản tiếng Anh.</a:t>
            </a:r>
            <a:endParaRPr lang="en-US" dirty="0"/>
          </a:p>
          <a:p>
            <a:r>
              <a:rPr lang="en-US" dirty="0"/>
              <a:t>Ảnh: web-26 KTV bấm huyệt (massagetinhvien.com).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Lịch nội dung tuần (đề xuất PTT), khớp tần suất 4–5 video/tuần ở trang 16 và 3 trụ cột ở trang 13.</a:t>
            </a:r>
            <a:endParaRPr lang="en-US" dirty="0"/>
          </a:p>
          <a:p>
            <a:r>
              <a:rPr lang="en-US" dirty="0"/>
              <a:t>Giờ vàng 9h30–13h T2–T5 giảm trực tiếp 50–100K gói massage: banner FB fb-14 (https://www.facebook.com/massagetinhvien). Ưu đãi cuối tuần giảm 20% + voucher 100k: fb-16.</a:t>
            </a:r>
            <a:endParaRPr lang="en-US" dirty="0"/>
          </a:p>
          <a:p>
            <a:r>
              <a:rPr lang="en-US" dirty="0"/>
              <a:t>Góc 'hẹn hò chữa lành': https://kpt.24h.com.vn/tin-tuc-suc-khoe/tinh-vien-massage-diem-hen-ho-chua-lanh-cua-nguoi-tre-sai-thanh-c683prv1770545.html</a:t>
            </a:r>
            <a:endParaRPr lang="en-US" dirty="0"/>
          </a:p>
          <a:p>
            <a:r>
              <a:rPr lang="en-US" dirty="0"/>
              <a:t>Mốc bắt đầu cho dịp 20/10, Noel, Tết là đề xuất, chốt cùng tiệm.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 tổng hợp từ research.md: không gian Indochine, quy trình 10/20/25 bước, giá gồm VAT + xông hơi + ngâm chân + ăn nhẹ, 20+ phòng (tự công bố, https://massagetinhvien.com/), báo chí VnExpress 18/6/2026 https://vnexpress.net/tinh-vien-phat-trien-dich-vu-thu-gian-ket-hop-tri-lieu-5086245.html</a:t>
            </a:r>
            <a:endParaRPr lang="en-US" dirty="0"/>
          </a:p>
          <a:p>
            <a:r>
              <a:rPr lang="en-US" dirty="0"/>
              <a:t>Điểm yếu: audit website (mục 6), không review Fresha/Ohbeauti, WooCommerce trống, không thấy Pixel.</a:t>
            </a:r>
            <a:endParaRPr lang="en-US" dirty="0"/>
          </a:p>
          <a:p>
            <a:r>
              <a:rPr lang="en-US" dirty="0"/>
              <a:t>Thách thức: Nguyệt Lâu đầu tư SEO (https://massagenguyetlau.com/), chuỗi Cô Ba / Bà Ba giá thấp (mục 7). Cơ hội là nhận định của PTT.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TikTok &amp; video ngắn (đề xuất PTT; tần suất 4–5 video/tuần, quay 1 buổi/2 tuần là đề xuất). Tài khoản có sẵn theo footer website: https://www.tiktok.com/@massagetinhvien · https://www.youtube.com/@massagetinhvien · https://www.instagram.com/massagetinhvien/ (số follower [chưa rõ]).</a:t>
            </a:r>
            <a:endParaRPr lang="en-US" dirty="0"/>
          </a:p>
          <a:p>
            <a:r>
              <a:rPr lang="en-US" dirty="0"/>
              <a:t>Góc 'hẹn hò chữa lành': https://kpt.24h.com.vn/tin-tuc-suc-khoe/tinh-vien-massage-diem-hen-ho-chua-lanh-cua-nguoi-tre-sai-thanh-c683prv1770545.html</a:t>
            </a:r>
            <a:endParaRPr lang="en-US" dirty="0"/>
          </a:p>
          <a:p>
            <a:r>
              <a:rPr lang="en-US" dirty="0"/>
              <a:t>Ảnh: web-23 gội đầu vòm nước (massagetinhvien.com).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 90 ngày (đề xuất PTT), tính từ tháng 10/2026. Tháng 1: hồ sơ Google Maps, sửa website (audit trang 9), CRM rs.pttads.vn, quay video đầu, voucher 20/10 (mở bán từ khoảng 10/10 như lịch nội dung trang 19), chạy thử 14 ngày rồi chốt KPI (trang 12, 23). Tháng 2: tăng ngân sách cho nhóm quảng cáo tốt trong trần 24–30 tr/tháng, voucher Noel, xin đánh giá. Tháng 3: thẻ thành viên / gói liệu trình [cần chốt], chiến dịch Tết. Ngày 90: báo cáo tổng kết.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KPI 90 ngày: toàn bộ là mục tiêu đề xuất của PTT, chốt sau 14 ngày dữ liệu quảng cáo đầu tiên; không phải kết quả cam kết.</a:t>
            </a:r>
            <a:endParaRPr lang="en-US" dirty="0"/>
          </a:p>
          <a:p>
            <a:r>
              <a:rPr lang="en-US" dirty="0"/>
              <a:t>Lịch hẹn từ quảng cáo và chi phí / lịch hẹn: đo trong 14 ngày rồi chốt dải. Khách đến / lịch hẹn ≥70%, +100 đánh giá Google mới / 90 ngày, phản hồi tin nhắn ≤5 phút, khách quay lại trong 60 ngày: mục tiêu đề xuất.</a:t>
            </a:r>
            <a:endParaRPr lang="en-US" dirty="0"/>
          </a:p>
          <a:p>
            <a:r>
              <a:rPr lang="en-US" dirty="0"/>
              <a:t>Ngân sách quảng cáo tham chiếu: 800.000–1.000.000 đ/ngày ≈ 24–30 triệu/tháng (khách trả thẳng nền tảng).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Vì sao PTT (năng lực dịch vụ, không nêu số liệu khách hàng): PTT Advertising Solutions (https://pttads.vn) làm trọn chiến lược, quảng cáo, nội dung, quay dựng tại tiệm; CRM riêng rs.pttads.vn theo dõi từng khách và báo cáo hằng tuần.</a:t>
            </a:r>
            <a:endParaRPr lang="en-US" dirty="0"/>
          </a:p>
          <a:p>
            <a:r>
              <a:rPr lang="en-US" dirty="0"/>
              <a:t>4 bước tiếp theo: duyệt kế hoạch &amp; chốt ngân sách 24–30 tr/tháng › ký hợp đồng, báo giá phí quản lý [cần chốt theo báo giá] › buổi quay đầu tiên + thiết lập tài khoản, CRM › chạy thử 14 ngày, chốt KPI.</a:t>
            </a:r>
            <a:endParaRPr lang="en-US" dirty="0"/>
          </a:p>
          <a:p>
            <a:r>
              <a:rPr lang="en-US" dirty="0"/>
              <a:t>Ảnh: fb-11 quầy lễ tân (https://www.facebook.com/massagetinhvien).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bổ ngân sách quảng cáo (đề xuất PTT): 800.000–1.000.000 đ/ngày ≈ 24–30 triệu/tháng (30 ngày), khách trả trực tiếp cho Meta / TikTok / Google; phí quản lý PTT tính riêng [cần chốt theo báo giá].</a:t>
            </a:r>
            <a:endParaRPr lang="en-US" dirty="0"/>
          </a:p>
          <a:p>
            <a:r>
              <a:rPr lang="en-US" dirty="0"/>
              <a:t>Tỷ trọng: FB/IG tin nhắn + quà tặng 60% (14,4 / 18 tr), FB/IG bám đuổi 15% (3,6 / 4,5 tr), TikTok đẩy video 15% (3,6 / 4,5 tr), Google Maps / tìm kiếm địa phương 10% (2,4 / 3 tr). Tổng 100% = 24 / 30 tr.</a:t>
            </a:r>
            <a:endParaRPr lang="en-US" dirty="0"/>
          </a:p>
          <a:p>
            <a:r>
              <a:rPr lang="en-US" dirty="0"/>
              <a:t>Khớp các chiến dịch trang 15 (FB/IG), 16 (TikTok), 17 (Google Maps). Hồ sơ Google Maps miễn phí; 10% là quảng cáo địa phương, có thể chuyển sang FB/IG nếu chưa hiệu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 đồ giá massage body (nghìn đ/lượt, giá niêm yết) theo research.md mục 7:</a:t>
            </a:r>
            <a:endParaRPr lang="en-US" dirty="0"/>
          </a:p>
          <a:p>
            <a:r>
              <a:rPr lang="en-US" dirty="0"/>
              <a:t>Tĩnh Viên 489k (60') – 829k (120'); 90' = 669k: https://massagetinhvien.com/dich-vu</a:t>
            </a:r>
            <a:endParaRPr lang="en-US" dirty="0"/>
          </a:p>
          <a:p>
            <a:r>
              <a:rPr lang="en-US" dirty="0"/>
              <a:t>Nguyệt Lâu 750/990/1.190k (60/90/120', đã gồm tip, xông hơi, tráng miệng): https://massagenguyetlau.com/</a:t>
            </a:r>
            <a:endParaRPr lang="en-US" dirty="0"/>
          </a:p>
          <a:p>
            <a:r>
              <a:rPr lang="en-US" dirty="0"/>
              <a:t>Miyako Spa 750k/100' – 1.100k/140': https://miyakospa.com.vn/</a:t>
            </a:r>
            <a:endParaRPr lang="en-US" dirty="0"/>
          </a:p>
          <a:p>
            <a:r>
              <a:rPr lang="en-US" dirty="0"/>
              <a:t>Rêu Spa body 390–590k (60/90'): https://wikithammy.com/danh-gia/reu-spa-quan-10</a:t>
            </a:r>
            <a:endParaRPr lang="en-US" dirty="0"/>
          </a:p>
          <a:p>
            <a:r>
              <a:rPr lang="en-US" dirty="0"/>
              <a:t>Dưỡng Sinh Cô Ba body 299–439k: https://duongsinhcoba.com/</a:t>
            </a:r>
            <a:endParaRPr lang="en-US" dirty="0"/>
          </a:p>
          <a:p>
            <a:r>
              <a:rPr lang="en-US" dirty="0"/>
              <a:t>Dưỡng Sinh Bà Ba – Hòa Hưng massage chuyên biệt 45' khoảng 329k (chỉ 1 mức): https://ohbeauti.vn/spa/duong-sinh-ba-ba-hoa-hung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trình tiếp nhận khách (đề xuất PTT): nguồn khách từ quảng cáo, Zalo 0927.717.717, Messenger m.me/massagetinhvien, hotline › ghi vào CRM PTT rs.pttads.vn › phản hồi trong 5 phút › tư vấn gói &amp; giữ lịch › nhắc lịch qua Zalo trước 2–3 giờ › sau buổi xin đánh giá Google Maps + ưu đãi quay lại.</a:t>
            </a:r>
            <a:endParaRPr lang="en-US" dirty="0"/>
          </a:p>
          <a:p>
            <a:r>
              <a:rPr lang="en-US" dirty="0"/>
              <a:t>Giờ mở cửa 9:30–21:30 mỗi ngày (trang chủ, Fresha). Người trực tin nhắn phía tiệm và mức ưu đãi quay lại: [cần chốt].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minh họa (giả định PTT, chưa phải cam kết; chốt sau 14 ngày chạy thử): chi phí 75.000 đ / tin nhắn (bình quân mọi kênh), tỷ lệ chốt lịch 25% số tin nhắn, tỷ lệ khách đến 70% số lịch hẹn (khớp mục tiêu ≥70% trang 12).</a:t>
            </a:r>
            <a:endParaRPr lang="en-US" dirty="0"/>
          </a:p>
          <a:p>
            <a:r>
              <a:rPr lang="en-US" dirty="0"/>
              <a:t>24 tr: 24.000.000 ÷ 75.000 = 320 tin nhắn × 25% = 80 lịch hẹn × 70% = 56 khách đến.</a:t>
            </a:r>
            <a:endParaRPr lang="en-US" dirty="0"/>
          </a:p>
          <a:p>
            <a:r>
              <a:rPr lang="en-US" dirty="0"/>
              <a:t>30 tr: 30.000.000 ÷ 75.000 = 400 tin nhắn × 25% = 100 lịch hẹn × 70% = 70 khách đến.</a:t>
            </a:r>
            <a:endParaRPr lang="en-US" dirty="0"/>
          </a:p>
          <a:p>
            <a:r>
              <a:rPr lang="en-US" dirty="0"/>
              <a:t>Chi phí / lịch hẹn giả định = 300.000 đ. Không tính doanh thu hay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&amp; phối hợp (đề xuất PTT): báo cáo tuần qua Zalo (tin nhắn, lịch hẹn, khách đến, chi phí), báo cáo tháng + họp đánh giá theo khung KPI trang 12, dashboard CRM PTT rs.pttads.vn, nhóm Zalo chung PTT – tiệm.</a:t>
            </a:r>
            <a:endParaRPr lang="en-US" dirty="0"/>
          </a:p>
          <a:p>
            <a:r>
              <a:rPr lang="en-US" dirty="0"/>
              <a:t>Phân vai: PTT phụ trách chiến lược, quảng cáo, nội dung, quay dựng, CRM, báo cáo; tiệm trực tin nhắn, cung cấp ưu đãi và lịch quay, KTV xuất hiện trong video, xác nhận khách đến. Người trực phía tiệm [cần chốt].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Liên hệ: Massage Tĩnh Viên, 151 Hòa Hưng, P. Hòa Hưng, TP.HCM; 9:30–21:30 mỗi ngày; hotline/Zalo 0927.717.717 (https://massagetinhvien.com/). PTT Advertising Solutions · https://pttads.vn · CRM rs.pttads.vn.</a:t>
            </a:r>
            <a:endParaRPr lang="en-US" dirty="0"/>
          </a:p>
          <a:p>
            <a:r>
              <a:rPr lang="en-US" dirty="0"/>
              <a:t>Ảnh: fb-12 góc phòng chờ cửa vòm, fb-07 phòng chờ cửa tròn, fb-09 ấm trà thảo dược (https://www.facebook.com/massagetinhvien).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g1-cover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g1-agenda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g2-hientrang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g3-diemban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g4-dinhvi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g6-giuchan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g7-trainghiem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chart" Target="../charts/char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chart" Target="../charts/char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g8-chot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g1-divider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g8-camon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ửa tròn và cây xanh tại Massage Tĩnh Viê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109728" cy="68580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KẾ HOẠCH</a:t>
            </a:r>
            <a:br>
              <a:rPr lang="en-US" sz="4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</a:br>
            <a:r>
              <a:rPr lang="en-US" sz="4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TIẾP THỊ</a:t>
            </a:r>
            <a:br>
              <a:rPr lang="en-US" sz="4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</a:br>
            <a:r>
              <a:rPr lang="en-US" sz="4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TÍCH HỢP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3291840" cy="566928"/>
          </a:xfrm>
          <a:prstGeom prst="rect">
            <a:avLst/>
          </a:prstGeom>
          <a:solidFill>
            <a:srgbClr val="1E4D2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23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MASSAGE TĨNH VIÊN</a:t>
            </a:r>
            <a:endParaRPr lang="en-US" sz="1600" dirty="0"/>
          </a:p>
        </p:txBody>
      </p:sp>
      <p:sp>
        <p:nvSpPr>
          <p:cNvPr id="8" name="Text 8"/>
          <p:cNvSpPr txBox="1"/>
          <p:nvPr/>
        </p:nvSpPr>
        <p:spPr>
          <a:xfrm>
            <a:off x="731520" y="4846320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151 Hòa Hưng, Phường Hòa Hưng, TP.HCM  ·  9:30–21:30 mỗi ngày</a:t>
            </a:r>
          </a:p>
          <a:p>
            <a:pPr indent="0" marL="0"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Hotline / Zalo: 0927.717.717  ·  massagetinhvien.com</a:t>
            </a:r>
          </a:p>
          <a:p>
            <a:pPr indent="0" marL="0">
              <a:buNone/>
            </a:pPr>
            <a:r>
              <a:rPr lang="vi-VN" sz="13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Solutions  ·  pttads.vn  ·  Tháng 10/2026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990" name="PageNum"/>
          <p:cNvSpPr/>
          <p:nvPr/>
        </p:nvSpPr>
        <p:spPr>
          <a:xfrm>
            <a:off x="5699455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òng chờ Massage Tĩnh Viê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4846320" y="54864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36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Mục lục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846320" y="13716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b="1" spc="3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CHÍNH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21040" y="13716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b="1" spc="3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 TÂM ĐỀ XUẤT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846320" y="17373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0" y="17373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Tĩnh Viên hôm nay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03–06</a:t>
            </a:r>
          </a:p>
        </p:txBody>
      </p:sp>
      <p:sp>
        <p:nvSpPr>
          <p:cNvPr id="12" name="Line 12"/>
          <p:cNvSpPr/>
          <p:nvPr/>
        </p:nvSpPr>
        <p:spPr>
          <a:xfrm>
            <a:off x="4846320" y="228600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4846320" y="22860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48640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Thị trường &amp; định vị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07–08</a:t>
            </a:r>
          </a:p>
        </p:txBody>
      </p:sp>
      <p:sp>
        <p:nvSpPr>
          <p:cNvPr id="15" name="Line 15"/>
          <p:cNvSpPr/>
          <p:nvPr/>
        </p:nvSpPr>
        <p:spPr>
          <a:xfrm>
            <a:off x="4846320" y="283464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846320" y="28346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486400" y="2834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trạng online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09–11</a:t>
            </a:r>
          </a:p>
        </p:txBody>
      </p:sp>
      <p:sp>
        <p:nvSpPr>
          <p:cNvPr id="18" name="Line 18"/>
          <p:cNvSpPr/>
          <p:nvPr/>
        </p:nvSpPr>
        <p:spPr>
          <a:xfrm>
            <a:off x="4846320" y="338328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4846320" y="33832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486400" y="3383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&amp; thông điệp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12–13</a:t>
            </a:r>
          </a:p>
        </p:txBody>
      </p:sp>
      <p:sp>
        <p:nvSpPr>
          <p:cNvPr id="21" name="Line 21"/>
          <p:cNvSpPr/>
          <p:nvPr/>
        </p:nvSpPr>
        <p:spPr>
          <a:xfrm>
            <a:off x="4846320" y="393192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846320" y="39319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486400" y="3931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 truyền thông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14–17</a:t>
            </a:r>
          </a:p>
        </p:txBody>
      </p:sp>
      <p:sp>
        <p:nvSpPr>
          <p:cNvPr id="24" name="Line 24"/>
          <p:cNvSpPr/>
          <p:nvPr/>
        </p:nvSpPr>
        <p:spPr>
          <a:xfrm>
            <a:off x="4846320" y="448056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4846320" y="44805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486400" y="4480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&amp; giữ chân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18–21</a:t>
            </a:r>
          </a:p>
        </p:txBody>
      </p:sp>
      <p:sp>
        <p:nvSpPr>
          <p:cNvPr id="27" name="Line 27"/>
          <p:cNvSpPr/>
          <p:nvPr/>
        </p:nvSpPr>
        <p:spPr>
          <a:xfrm>
            <a:off x="4846320" y="502920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846320" y="50292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VII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486400" y="5029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sách &amp; KPI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22–23</a:t>
            </a:r>
          </a:p>
        </p:txBody>
      </p:sp>
      <p:sp>
        <p:nvSpPr>
          <p:cNvPr id="30" name="Line 30"/>
          <p:cNvSpPr/>
          <p:nvPr/>
        </p:nvSpPr>
        <p:spPr>
          <a:xfrm>
            <a:off x="4846320" y="557784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4846320" y="557784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8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VIII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486400" y="5577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&amp; HỢP TÁC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24–27</a:t>
            </a:r>
          </a:p>
        </p:txBody>
      </p:sp>
      <p:sp>
        <p:nvSpPr>
          <p:cNvPr id="33" name="Line 33"/>
          <p:cNvSpPr/>
          <p:nvPr/>
        </p:nvSpPr>
        <p:spPr>
          <a:xfrm>
            <a:off x="4846320" y="6126480"/>
            <a:ext cx="301752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8321040" y="17373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778240" y="17373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đồ giá khu Q10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07</a:t>
            </a:r>
          </a:p>
        </p:txBody>
      </p:sp>
      <p:sp>
        <p:nvSpPr>
          <p:cNvPr id="36" name="Line 36"/>
          <p:cNvSpPr/>
          <p:nvPr/>
        </p:nvSpPr>
        <p:spPr>
          <a:xfrm>
            <a:off x="8321040" y="228600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8321040" y="2286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7782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 &amp; SEO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09</a:t>
            </a:r>
          </a:p>
        </p:txBody>
      </p:sp>
      <p:sp>
        <p:nvSpPr>
          <p:cNvPr id="39" name="Line 39"/>
          <p:cNvSpPr/>
          <p:nvPr/>
        </p:nvSpPr>
        <p:spPr>
          <a:xfrm>
            <a:off x="8321040" y="283464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8321040" y="28346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778240" y="2834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Phễu tích hợp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14</a:t>
            </a:r>
          </a:p>
        </p:txBody>
      </p:sp>
      <p:sp>
        <p:nvSpPr>
          <p:cNvPr id="42" name="Line 42"/>
          <p:cNvSpPr/>
          <p:nvPr/>
        </p:nvSpPr>
        <p:spPr>
          <a:xfrm>
            <a:off x="8321040" y="338328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8321040" y="33832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778240" y="3383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Quảng cáo FB / IG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15</a:t>
            </a:r>
          </a:p>
        </p:txBody>
      </p:sp>
      <p:sp>
        <p:nvSpPr>
          <p:cNvPr id="45" name="Line 45"/>
          <p:cNvSpPr/>
          <p:nvPr/>
        </p:nvSpPr>
        <p:spPr>
          <a:xfrm>
            <a:off x="8321040" y="393192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8321040" y="39319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8778240" y="3931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TikTok &amp; video ngắn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16</a:t>
            </a:r>
          </a:p>
        </p:txBody>
      </p:sp>
      <p:sp>
        <p:nvSpPr>
          <p:cNvPr id="48" name="Line 48"/>
          <p:cNvSpPr/>
          <p:nvPr/>
        </p:nvSpPr>
        <p:spPr>
          <a:xfrm>
            <a:off x="8321040" y="448056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8321040" y="44805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778240" y="44805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17</a:t>
            </a:r>
          </a:p>
        </p:txBody>
      </p:sp>
      <p:sp>
        <p:nvSpPr>
          <p:cNvPr id="51" name="Line 51"/>
          <p:cNvSpPr/>
          <p:nvPr/>
        </p:nvSpPr>
        <p:spPr>
          <a:xfrm>
            <a:off x="8321040" y="502920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8321040" y="5029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778240" y="5029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đãi &amp; giữ chân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18</a:t>
            </a:r>
          </a:p>
        </p:txBody>
      </p:sp>
      <p:sp>
        <p:nvSpPr>
          <p:cNvPr id="54" name="Line 54"/>
          <p:cNvSpPr/>
          <p:nvPr/>
        </p:nvSpPr>
        <p:spPr>
          <a:xfrm>
            <a:off x="8321040" y="557784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8321040" y="55778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778240" y="5577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 tiếp khách</a:t>
            </a:r>
          </a:p>
          <a:p>
            <a:pPr indent="0" marL="0">
              <a:buNone/>
            </a:pPr>
            <a:r>
              <a:rPr lang="vi-VN" sz="1000" dirty="0">
                <a:solidFill>
                  <a:srgbClr val="8A847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21</a:t>
            </a:r>
          </a:p>
        </p:txBody>
      </p:sp>
      <p:sp>
        <p:nvSpPr>
          <p:cNvPr id="62" name="Line 62"/>
          <p:cNvSpPr/>
          <p:nvPr/>
        </p:nvSpPr>
        <p:spPr>
          <a:xfrm>
            <a:off x="8321040" y="6126480"/>
            <a:ext cx="320040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484632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990" name="PageNum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I. TĨNH VIÊN HÔM NAY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Nền tảng sẵn sàng để đón thêm khách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20+</a:t>
            </a:r>
            <a:endParaRPr lang="en-US" sz="7200" dirty="0"/>
          </a:p>
        </p:txBody>
      </p:sp>
      <p:sp>
        <p:nvSpPr>
          <p:cNvPr id="40" name="Text 40"/>
          <p:cNvSpPr txBox="1"/>
          <p:nvPr/>
        </p:nvSpPr>
        <p:spPr>
          <a:xfrm>
            <a:off x="91440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 thuật viên</a:t>
            </a:r>
          </a:p>
          <a:p>
            <a:pPr algn="ctr" indent="0" marL="0">
              <a:spcBef>
                <a:spcPts val="6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Gội thảo dược, massage cổ truyền (số tiệm tự công bố)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20+</a:t>
            </a:r>
            <a:endParaRPr lang="en-US" sz="7200" dirty="0"/>
          </a:p>
        </p:txBody>
      </p:sp>
      <p:sp>
        <p:nvSpPr>
          <p:cNvPr id="41" name="Text 41"/>
          <p:cNvSpPr txBox="1"/>
          <p:nvPr/>
        </p:nvSpPr>
        <p:spPr>
          <a:xfrm>
            <a:off x="461772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 dịch vụ</a:t>
            </a:r>
          </a:p>
          <a:p>
            <a:pPr algn="ctr" indent="0" marL="0">
              <a:spcBef>
                <a:spcPts val="6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Xông ướt, xông khô, khu gội, phòng riêng (số tiệm tự công bố)</a:t>
            </a:r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12h</a:t>
            </a:r>
            <a:endParaRPr lang="en-US" sz="7200" dirty="0"/>
          </a:p>
        </p:txBody>
      </p:sp>
      <p:sp>
        <p:nvSpPr>
          <p:cNvPr id="42" name="Text 42"/>
          <p:cNvSpPr txBox="1"/>
          <p:nvPr/>
        </p:nvSpPr>
        <p:spPr>
          <a:xfrm>
            <a:off x="832104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cửa mỗi ngày</a:t>
            </a:r>
          </a:p>
          <a:p>
            <a:pPr algn="ctr" indent="0" marL="0">
              <a:spcBef>
                <a:spcPts val="6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9:30–21:30, cả tuần · 1 cơ sở tại 151 Hòa Hưng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tiệm tự công bố: </a:t>
            </a:r>
            <a:r>
              <a:rPr lang="vi-VN" sz="12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999+ khách hài lòng  ·  5+ năm kinh nghiệm  ·  20+ chuyên viên  ·  20+ phòng dịch vụ</a:t>
            </a:r>
          </a:p>
          <a:p>
            <a:pPr indent="0" marL="0"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vntravel.org.vn: </a:t>
            </a:r>
            <a:r>
              <a:rPr lang="vi-VN" sz="12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 vụ cùng lúc 25–30 khách  ·  </a:t>
            </a:r>
            <a:r>
              <a:rPr lang="vi-VN" sz="12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Hotline / Zalo 0927.717.717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ng chủ massagetinhvien.com, chụp 08/10/2026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III. HIỆN TRẠNG ONLINE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0" y="960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Website đẹp, nhưng Google chưa hiểu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0" y="224028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chủ có 8 tiêu đề chính (H1)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giữ 1 tiêu đề chính chứa từ khóa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 vụ, bảng giá, giới thiệu thiếu tiêu đề chính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viết tiêu đề, mô tả riêng từng trang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 đề trang chủ chỉ có “Massage Tĩnh Viên”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thêm “massage, gội đầu dưỡng sinh, Hòa Hưng”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khai báo dữ liệu doanh nghiệp địa phương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thêm địa chỉ, giờ mở cửa, giá cho Google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Blog 3 bài, cùng đăng ngày 13/3/2026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đăng đều theo lịch từ khóa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bán hàng trống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bán voucher quà tặng online</a:t>
            </a:r>
          </a:p>
          <a:p>
            <a:pPr marL="342900" indent="-342900">
              <a:spcAft>
                <a:spcPts val="500"/>
              </a:spcAft>
              <a:buChar char="•"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thấy mã đo lường Facebook / TikTok  </a:t>
            </a:r>
            <a:r>
              <a:rPr lang="vi-VN" sz="14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›  gắn mã, đo lượt đặt lịch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40080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463040" y="2103120"/>
            <a:ext cx="9326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Cao cấp vừa túi tiền: dưỡng sinh trọn gói, giá dễ quay lại.</a:t>
            </a:r>
            <a:endParaRPr lang="en-US" sz="3800" dirty="0"/>
          </a:p>
        </p:txBody>
      </p:sp>
      <p:sp>
        <p:nvSpPr>
          <p:cNvPr id="60" name="Text 60"/>
          <p:cNvSpPr txBox="1"/>
          <p:nvPr/>
        </p:nvSpPr>
        <p:spPr>
          <a:xfrm>
            <a:off x="1463040" y="4389120"/>
            <a:ext cx="932688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vi-VN" sz="1800" dirty="0">
                <a:solidFill>
                  <a:srgbClr val="FAF8F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 hơn Nguyệt Lâu, Miyako  ·  trải nghiệm trên hẳn chuỗi gội đầu bình dân</a:t>
            </a:r>
          </a:p>
          <a:p>
            <a:pPr indent="0" marL="0">
              <a:spcBef>
                <a:spcPts val="900"/>
              </a:spcBef>
              <a:buNone/>
            </a:pPr>
            <a:r>
              <a:rPr lang="vi-VN" sz="14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Chạm tĩnh thân tâm – An yên trọn vẹn  ·  Massage Tĩnh Viên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D8CB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990" name="PageNum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CB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VI. NỘI DUNG &amp; GIỮ CHÂN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Ưu đãi giữ chân: bán trước, lấp giờ trống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Voucher quà tặng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5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xuất: </a:t>
            </a:r>
            <a:r>
              <a:rPr lang="vi-VN" sz="15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 voucher qua website (mục bán hàng đã cài sẵn) cho 20/10, Noel, Tết</a:t>
            </a:r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Giờ vàng T2–T5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5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có: </a:t>
            </a:r>
            <a:r>
              <a:rPr lang="vi-VN" sz="15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9h30–13h giảm trực tiếp 50–100K gói massage, lấp giờ thấp điểm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Thẻ thành viên, gói liệu trình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5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xuất: </a:t>
            </a:r>
            <a:r>
              <a:rPr lang="vi-VN" sz="15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 5 tặng 1 [cần chốt]; giữ khách cổ vai gáy quay lại đều</a:t>
            </a:r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Sinh nhật &amp; giới thiệu bạn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vi-VN" sz="15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có: </a:t>
            </a:r>
            <a:r>
              <a:rPr lang="vi-VN" sz="15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voucher sinh nhật  ·  Đề xuất: thêm ưu đãi giới thiệu bạn</a:t>
            </a:r>
          </a:p>
        </p:txBody>
      </p:sp>
      <p:sp>
        <p:nvSpPr>
          <p:cNvPr id="70" name="Pill 70"/>
          <p:cNvSpPr/>
          <p:nvPr/>
        </p:nvSpPr>
        <p:spPr>
          <a:xfrm>
            <a:off x="4572000" y="2286000"/>
            <a:ext cx="1188720" cy="320040"/>
          </a:xfrm>
          <a:prstGeom prst="roundRect">
            <a:avLst/>
          </a:prstGeom>
          <a:solidFill>
            <a:srgbClr val="1E4D2B"/>
          </a:solidFill>
        </p:spPr>
        <p:txBody>
          <a:bodyPr wrap="none" lIns="0" tIns="0" rIns="0" bIns="0" anchor="ctr"/>
          <a:lstStyle/>
          <a:p>
            <a:pPr algn="ctr" indent="0" marL="0">
              <a:buNone/>
            </a:pPr>
            <a:r>
              <a:rPr lang="vi-VN" sz="1100" b="1" dirty="0">
                <a:solidFill>
                  <a:srgbClr val="FAF8F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</a:t>
            </a:r>
          </a:p>
        </p:txBody>
      </p:sp>
      <p:sp>
        <p:nvSpPr>
          <p:cNvPr id="71" name="Pill 71"/>
          <p:cNvSpPr/>
          <p:nvPr/>
        </p:nvSpPr>
        <p:spPr>
          <a:xfrm>
            <a:off x="10104120" y="2286000"/>
            <a:ext cx="1188720" cy="320040"/>
          </a:xfrm>
          <a:prstGeom prst="roundRect">
            <a:avLst/>
          </a:prstGeom>
          <a:solidFill>
            <a:srgbClr val="1E4D2B"/>
          </a:solidFill>
        </p:spPr>
        <p:txBody>
          <a:bodyPr wrap="none" lIns="0" tIns="0" rIns="0" bIns="0" anchor="ctr"/>
          <a:lstStyle/>
          <a:p>
            <a:pPr algn="ctr" indent="0" marL="0">
              <a:buNone/>
            </a:pPr>
            <a:r>
              <a:rPr lang="vi-VN" sz="1100" b="1" dirty="0">
                <a:solidFill>
                  <a:srgbClr val="FAF8F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VI. NỘI DUNG &amp; GIỮ CHÂN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kịch bản video mẫu, quay được ngay tại tiệm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352044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65760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Kịch bản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 giây đầu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 dung chính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Kêu gọi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1. Gội thảo dược thư giãn (15–20 giây)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Cận cảnh nước thảo dược đổ lên tóc, tiếng nước chảy, không lời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Gội dưới vòm nước › xông hơi › thưởng trà; chữ trên hình: “Gội dưỡng sinh 10 bước, 149k”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Nhắn Zalo 0927.717.717 để đặt lịch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2. KTV giải thích cổ vai gáy (20–30 giây)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“Ngồi máy tính cả ngày, cổ vai gáy cứng thế này phải không?”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KTV chỉ điểm đau, nói nguyên nhân; cảnh bấm huyệt, đá nóng; gợi ý Khai Lạc Dưỡng Khí 60 phút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Giờ vàng T2–T5 9h30–13h giảm 50–100K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3. Cặp đôi “hẹn hò chữa lành” (20–30 giây)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“Hẹn hò kiểu mới: không cà phê, mà là…”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 người qua cửa vòm, gội, xông hơi, thưởng trà; khách tự nói cảm nhận (có đồng ý)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 lịch cho hai người qua Zalo 0927.717.717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72" name="Text 72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quay: </a:t>
            </a:r>
            <a:r>
              <a:rPr lang="vi-VN" sz="11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dọc 9:16, phụ đề tiếng Việt, ánh sáng ấm  ·  khách xuất hiện phải đồng ý [cần chốt mẫu đồng ý]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V. KÊNH TRUYỀN THÔNG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Quảng cáo Facebook / Instagram: 3 nhóm chiến dịch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201" name="Text 201"/>
          <p:cNvSpPr/>
          <p:nvPr/>
        </p:nvSpPr>
        <p:spPr>
          <a:xfrm>
            <a:off x="640080" y="5760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kiện: cài mã đo lường Facebook trên website trước khi chạy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 nhắn / đặt lịch quanh 151 Hòa Hưng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Bán kính 3–5 km (Q10, Q3, Tân Bình, Phú Nhuận…), 22–45 tuổi; video trải nghiệm + giờ vàng T2–T5 9h30–13h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Quà tặng, voucher theo dịp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20/10, Noel, Tết; nhắm người mua tặng: voucher sinh nhật, combo cho người thương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572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Bám đuổi người đã quan tâm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video ≥50%, nhắn tin chưa đặt, khách cũ 60 ngày: combo, ưu đãi quay lại</a:t>
            </a:r>
          </a:p>
        </p:txBody>
      </p:sp>
      <p:pic>
        <p:nvPicPr>
          <p:cNvPr id="16" name="Image 0" descr="Massage đá nó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103120"/>
            <a:ext cx="44805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I. TĨNH VIÊN HÔM NAY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Thực đơn rõ ràng, giá trọn gói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Gội dưỡng sinh  ·  149k–419k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Hương Mộc Tĩnh Tâm 30'  ·  An Nhiên Thảo Dược 60'  ·  Thiền Hương An Lạc 90'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Massage cổ truyền  ·  489k–829k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 Lạc Dưỡng Khí 60'  ·  3 liệu trình 90'  ·  Ngự Dưỡng Phục Nguyên 120'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Combo Tĩnh Viên  ·  750k–1.050k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Gội An Nhiên 60' + massage 60 / 90 / 120' + xông hơi  ·  120–180 phút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Đã gồm trong giá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VAT  ·  xông ướt / xông khô  ·  ngâm chân  ·  trà, bánh, ăn nhẹ  ·  không phát sinh</a:t>
            </a:r>
            <a:endParaRPr lang="en-US" sz="1600" dirty="0"/>
          </a:p>
        </p:txBody>
      </p:sp>
      <p:sp>
        <p:nvSpPr>
          <p:cNvPr id="80" name="Text 80"/>
          <p:cNvSpPr txBox="1"/>
          <p:nvPr/>
        </p:nvSpPr>
        <p:spPr>
          <a:xfrm>
            <a:off x="1920240" y="160020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ưu đãi đang niêm yết (giảm ~17–20% so với giá gốc)  ·  Nguồn: massagetinhvien.com/dich-vu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IV. MỤC TIÊU &amp; THÔNG ĐIỆP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Một khoảng lặng giữa Sài Gòn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Trị liệu có căn cứ</a:t>
            </a: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·  chuyên môn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Liệu trình 10 / 20 / 25 bước, KTV thực hiện; giải thích đau cổ vai gáy, mất ngủ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 nghiệm trọn gói</a:t>
            </a: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·  cảm xúc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gian Indochine, xông hơi, trà bánh; giá đã gồm VAT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chứng thật</a:t>
            </a: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·  niềm tin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nhận khách, video trước / sau buổi, đánh giá Google</a:t>
            </a:r>
          </a:p>
        </p:txBody>
      </p:sp>
      <p:pic>
        <p:nvPicPr>
          <p:cNvPr id="16" name="Image 0" descr="Gội đầu thảo dượ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468880"/>
            <a:ext cx="4480560" cy="3566160"/>
          </a:xfrm>
          <a:prstGeom prst="rect">
            <a:avLst/>
          </a:prstGeom>
        </p:spPr>
      </p:pic>
      <p:sp>
        <p:nvSpPr>
          <p:cNvPr id="82" name="Text 82"/>
          <p:cNvSpPr txBox="1"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 điệp chủ đạo: </a:t>
            </a:r>
            <a:r>
              <a:rPr lang="vi-VN" sz="1500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“Chạm tĩnh thân tâm – An yên trọn vẹn”: dưỡng sinh chuẩn Đông y, trọn gói, giá vừa túi tiền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V. KÊNH TRUYỀN THÔNG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Google Maps &amp; SEO: hiện ra khi khách tìm gần đây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3401568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Hạng mục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 làm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 quả mong đợi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Hồ sơ Google Maps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Đủ giờ mở cửa, ảnh thật, dịch vụ + giá, bài đăng mỗi tuần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Hiện trong tìm kiếm “gần đây”, thêm lượt gọi, chỉ đường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Xin đánh giá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QR tại quầy, nhắn Zalo sau buổi; không mua đánh giá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Đánh giá thật tăng đều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Sửa website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 tiêu đề chính / trang; tiêu đề, mô tả có từ khóa; dữ liệu doanh nghiệp địa phương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Google hiểu đúng dịch vụ, địa chỉ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Blog 4 bài / tháng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Đau cổ vai gáy, mất ngủ, gội dưỡng sinh là gì…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Thêm lượt tìm kiếm tự nhiên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Đồng bộ thông tin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Giá, hotline, email thống nhất trên web, Facebook, Fresha, Ohbeauti, Maps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Hết lệch thông tin, khách tin hơn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90" name="Text 90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khóa đề xuất: </a:t>
            </a:r>
            <a:r>
              <a:rPr lang="vi-VN" sz="1200" b="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“massage Q10”, “gội đầu dưỡng sinh Hòa Hưng”  ·  Q10 theo địa giới cũ, tiệm xác nhận cách gọi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III. HIỆN TRẠNG ONLINE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Niềm tin online chưa xứng với trải nghiệm thật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1,4K</a:t>
            </a:r>
            <a:endParaRPr lang="en-US" sz="6000" dirty="0"/>
          </a:p>
        </p:txBody>
      </p:sp>
      <p:sp>
        <p:nvSpPr>
          <p:cNvPr id="91" name="Text 91"/>
          <p:cNvSpPr txBox="1"/>
          <p:nvPr/>
        </p:nvSpPr>
        <p:spPr>
          <a:xfrm>
            <a:off x="91440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theo dõi Facebook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/>
            </a: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 yếu banner khuyến mãi, kiến thức; bài gần nhất (video liệu trình) ~2 lượt cảm xúc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6000" dirty="0"/>
          </a:p>
        </p:txBody>
      </p:sp>
      <p:sp>
        <p:nvSpPr>
          <p:cNvPr id="92" name="Text 92"/>
          <p:cNvSpPr txBox="1"/>
          <p:nvPr/>
        </p:nvSpPr>
        <p:spPr>
          <a:xfrm>
            <a:off x="461772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trên Facebook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hiển thị “chưa có xếp hạng” vì quá ít đánh giá</a:t>
            </a:r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</a:t>
            </a:r>
            <a:endParaRPr lang="en-US" sz="6000" dirty="0"/>
          </a:p>
        </p:txBody>
      </p:sp>
      <p:sp>
        <p:nvSpPr>
          <p:cNvPr id="93" name="Text 93"/>
          <p:cNvSpPr txBox="1"/>
          <p:nvPr/>
        </p:nvSpPr>
        <p:spPr>
          <a:xfrm>
            <a:off x="832104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8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trên Fresha, Ohbeauti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Maps: số sao, số đánh giá [cần chốt]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1920240" y="160020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liệu công khai, xem tháng 10/2026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 tin lệch giữa các kênh: </a:t>
            </a:r>
            <a:r>
              <a:rPr lang="vi-VN" sz="12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gốc Combo 2 / 3 đảo giữa web và bảng giá  ·  thẻ Ôn Hòa Dưỡng Thân lặp lại  ·  2 email khác nhau  ·  Ohbeauti ghi hotline 0399442881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V. KÊNH TRUYỀN THÔNG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Phễu tích hợp: từ video đến lịch hẹn và quay lại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Thu hút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Reels Facebook / Instagram, TikTok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ngắn trải nghiệm</a:t>
            </a:r>
          </a:p>
        </p:txBody>
      </p:sp>
      <p:sp>
        <p:nvSpPr>
          <p:cNvPr id="12" name="Shape 10"/>
          <p:cNvSpPr/>
          <p:nvPr/>
        </p:nvSpPr>
        <p:spPr>
          <a:xfrm>
            <a:off x="420624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4068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42900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Cân nhắc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43434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 Maps + đánh giá, website đã sửa SEO, fanpage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thấy và tin tưởng</a:t>
            </a:r>
          </a:p>
        </p:txBody>
      </p:sp>
      <p:sp>
        <p:nvSpPr>
          <p:cNvPr id="17" name="Shape 15"/>
          <p:cNvSpPr/>
          <p:nvPr/>
        </p:nvSpPr>
        <p:spPr>
          <a:xfrm>
            <a:off x="699516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22960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Đặt lịch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43434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Messenger, Zalo 0927.717.717, form đặt lịch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 CRM rs.pttads.vn</a:t>
            </a:r>
          </a:p>
        </p:txBody>
      </p:sp>
      <p:sp>
        <p:nvSpPr>
          <p:cNvPr id="22" name="Shape 20"/>
          <p:cNvSpPr/>
          <p:nvPr/>
        </p:nvSpPr>
        <p:spPr>
          <a:xfrm>
            <a:off x="9784080" y="2377440"/>
            <a:ext cx="1097280" cy="1097280"/>
          </a:xfrm>
          <a:prstGeom prst="ellipse">
            <a:avLst/>
          </a:prstGeom>
          <a:solidFill>
            <a:srgbClr val="A9864E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0684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Quay lại &amp; giới thiệu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06840" y="43434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Zalo OA nhắc lịch, thẻ thành viên, voucher quà tặng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 đánh giá sau buổi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tắc: </a:t>
            </a: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điểm chạm dẫn về một số Zalo / CRM để biết khách đến từ kênh nào  ·  số liệu phễu chốt sau 14 ngày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ỹ thuật viên bấm huyệt cho khá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I. TĨNH VIÊN HÔM NAY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0" y="1463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 nhóm khách mục tiêu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0" y="25603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vi-VN" sz="1500" dirty="0" b="1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Dân văn phòng: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đau cổ vai gáy, stress, mất ngủ; cần giải tỏa nhanh trưa / tối. </a:t>
            </a:r>
            <a:r>
              <a:rPr lang="vi-VN" sz="1500" dirty="0" i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“Tan ca ghé Tĩnh Viên, nhẹ cả cổ vai gáy.”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vi-VN" sz="1500" dirty="0" b="1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 đôi hẹn hò chữa lành: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không gian đẹp, riêng tư, đáng chụp ảnh. </a:t>
            </a:r>
            <a:r>
              <a:rPr lang="vi-VN" sz="1500" dirty="0" i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“Một buổi hẹn an yên cho hai người.”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vi-VN" sz="1500" dirty="0" b="1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 nữ &amp; người mua quà: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chăm tóc, da đầu; quà sinh nhật, 8/3. </a:t>
            </a:r>
            <a:r>
              <a:rPr lang="vi-VN" sz="1500" dirty="0" i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“Tặng người thương một khoảng lặng.”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vi-VN" sz="1500" dirty="0" b="1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lớn tuổi &amp; khách du lịch: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lực nhẹ, an toàn; trải nghiệm Đông y đặc trưng. </a:t>
            </a:r>
            <a:r>
              <a:rPr lang="vi-VN" sz="1500" dirty="0" i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“Dưỡng sinh chuẩn Đông y, đúng huyệt, đúng lực.”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640080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VI. NỘI DUNG &amp; GIỮ CHÂN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Lịch nội dung: 4–5 video mỗi tuần, đủ 3 trụ cột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3401568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Ngày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 dung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Kênh  ·  trụ cột</a:t>
                      </a:r>
                      <a:endParaRPr lang="en-US" sz="16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2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Video ASMR gội thảo dược, xông hơi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TikTok + Reels  ·  Trải nghiệm trọn gói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3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Video KTV giải thích đau cổ vai gáy, mất ngủ + bài kiến thức dưỡng sinh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TikTok + Reels, Fanpage  ·  Trị liệu có căn cứ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4–5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Ưu đãi giờ vàng 9h30–13h T2–T5 + ảnh không gian, dịch vụ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Fanpage, Instagram, Zalo OA  ·  Trải nghiệm trọn gói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6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Video cảm nhận khách, cặp đôi “hẹn hò chữa lành”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TikTok + Reels  ·  Bằng chứng thật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Cuối tuần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Video thứ 5 (tùy tuần) + ưu đãi cuối tuần, nhắc khách để lại đánh giá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TikTok, Fanpage, Zalo OA  ·  Bằng chứng thật</a:t>
                      </a:r>
                      <a:endParaRPr lang="en-US" sz="15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 txBox="1"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Dịp đặc biệt: </a:t>
            </a:r>
            <a:r>
              <a:rPr lang="vi-VN" sz="12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20/10 (từ 10/10: voucher quà tặng)  ·  Noel (từ 1/12)  ·  Tết (từ đầu tháng Chạp): thay nội dung ưu đãi của tuần đó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III. HIỆN TRẠNG ONLINE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SWOT: trải nghiệm mạnh, bằng chứng online yếu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79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Điểm mạnh (S)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gian Indochine  ·  liệu trình chuẩn hóa 10 / 20 / 25 bước  ·  giá trọn gói gồm VAT, xông hơi, trà  ·  20+ phòng (tự công bố)  ·  đã lên báo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240279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Điểm yếu (W)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đánh giá  ·  SEO yếu  ·  chưa đo lường quảng cáo  ·  chưa bán voucher, thẻ liệu trình  ·  thông tin lệch giữa các kênh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Cơ hội (O)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48006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Dân văn phòng đau cổ vai gáy cần dưỡng sinh  ·  quà tặng 20/10, cuối năm, Tết  ·  video ngắn TikTok, Reels  ·  tìm kiếm Google Maps quanh Q10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Thách thức (T)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48006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Nguyệt Lâu đầu tư SEO mạnh  ·  chuỗi gội đầu giá rẻ (Cô Ba, Bà Ba)  ·  cuộc đua khuyến mãi  ·  nguy cơ phụ thuộc giảm giá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ội đầu dưới vòm nướ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V. KÊNH TRUYỀN THÔNG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0" y="1463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TikTok &amp; video ngắn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0" y="24688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dòng video  · 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ASMR gội thảo dược, xông hơi; KTV giải thích đau cổ vai gáy; cảm nhận khách, cặp đôi “hẹn hò chữa lành”</a:t>
            </a:r>
          </a:p>
          <a:p>
            <a:pPr marL="342900" indent="-342900">
              <a:spcAft>
                <a:spcPts val="1000"/>
              </a:spcAft>
              <a:buChar char="•"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4–5 video / tuần  · 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chéo TikTok và Reels</a:t>
            </a:r>
          </a:p>
          <a:p>
            <a:pPr marL="342900" indent="-342900">
              <a:spcAft>
                <a:spcPts val="1000"/>
              </a:spcAft>
              <a:buChar char="•"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 tại tiệm  · 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buổi / 2 tuần, dùng KTV thật</a:t>
            </a:r>
          </a:p>
          <a:p>
            <a:pPr marL="342900" indent="-342900">
              <a:spcAft>
                <a:spcPts val="1000"/>
              </a:spcAft>
              <a:buChar char="•"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 quảng cáo  · 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tốt nhất chạy quảng cáo TikTok / Facebook</a:t>
            </a:r>
          </a:p>
          <a:p>
            <a:pPr marL="342900" indent="-342900">
              <a:spcAft>
                <a:spcPts val="1000"/>
              </a:spcAft>
              <a:buChar char="•"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 địa điểm  · 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 link đặt lịch Zalo 0927.717.717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400800" y="56692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 sẵn có: TikTok, YouTube, Instagram @massagetinhvien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40080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VIII. LỘ TRÌNH &amp; HỢP TÁC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Lộ trình 90 ngày: thiết lập, tối ưu, mở rộng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Thiết lập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1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 sơ Google Maps, sửa website, CRM, video đầu, voucher 20/10 (bán từ 10/10), chạy thử 14 ngày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 ngày 14: chốt dải KPI</a:t>
            </a:r>
          </a:p>
        </p:txBody>
      </p:sp>
      <p:sp>
        <p:nvSpPr>
          <p:cNvPr id="12" name="Shape 10"/>
          <p:cNvSpPr/>
          <p:nvPr/>
        </p:nvSpPr>
        <p:spPr>
          <a:xfrm>
            <a:off x="420624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4068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42900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Tối ưu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2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 ngân sách cho nhóm quảng cáo tốt, voucher Noel, xin đánh giá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Mốc: lịch hẹn, khách đến theo dải đã chốt</a:t>
            </a:r>
          </a:p>
        </p:txBody>
      </p:sp>
      <p:sp>
        <p:nvSpPr>
          <p:cNvPr id="17" name="Shape 15"/>
          <p:cNvSpPr/>
          <p:nvPr/>
        </p:nvSpPr>
        <p:spPr>
          <a:xfrm>
            <a:off x="699516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22960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Mở rộng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3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thành viên, gói liệu trình [cần chốt], chiến dịch Tết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Mốc: khách quay lại, đánh giá Google mới</a:t>
            </a:r>
          </a:p>
        </p:txBody>
      </p:sp>
      <p:sp>
        <p:nvSpPr>
          <p:cNvPr id="22" name="Shape 20"/>
          <p:cNvSpPr/>
          <p:nvPr/>
        </p:nvSpPr>
        <p:spPr>
          <a:xfrm>
            <a:off x="9784080" y="2377440"/>
            <a:ext cx="1097280" cy="1097280"/>
          </a:xfrm>
          <a:prstGeom prst="ellipse">
            <a:avLst/>
          </a:prstGeom>
          <a:solidFill>
            <a:srgbClr val="A9864E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0684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Tổng kết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06840" y="43434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4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 90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cáo tổng kết, đề xuất kế hoạch quý tiếp theo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 khung KPI trang 12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tắc: </a:t>
            </a:r>
            <a:r>
              <a:rPr lang="vi-VN" sz="13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đạt mốc thì chưa tăng ngân sách; sửa kịch bản tư vấn, nội dung, ưu đãi trước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IV. MỤC TIÊU &amp; THÔNG ĐIỆP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Khung KPI 90 ngày: lịch hẹn, khách đến, đánh giá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 ngày</a:t>
            </a:r>
            <a:endParaRPr lang="en-US" sz="7200" dirty="0"/>
          </a:p>
        </p:txBody>
      </p:sp>
      <p:sp>
        <p:nvSpPr>
          <p:cNvPr id="120" name="Text 120"/>
          <p:cNvSpPr txBox="1"/>
          <p:nvPr/>
        </p:nvSpPr>
        <p:spPr>
          <a:xfrm>
            <a:off x="91440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hẹn từ quảng cáo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đo 14 ngày đầu, rồi chốt dải mục tiêu và chi phí / lịch hẹn</a:t>
            </a:r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≥70%</a:t>
            </a:r>
            <a:endParaRPr lang="en-US" sz="7200" dirty="0"/>
          </a:p>
        </p:txBody>
      </p:sp>
      <p:sp>
        <p:nvSpPr>
          <p:cNvPr id="121" name="Text 121"/>
          <p:cNvSpPr txBox="1"/>
          <p:nvPr/>
        </p:nvSpPr>
        <p:spPr>
          <a:xfrm>
            <a:off x="461772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đến / lịch hẹn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đề xuất  ·  nhắc lịch qua Zalo trước giờ hẹn</a:t>
            </a:r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429000" cy="329184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286000"/>
            <a:ext cx="3429000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7432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+100</a:t>
            </a:r>
            <a:endParaRPr lang="en-US" sz="7200" dirty="0"/>
          </a:p>
        </p:txBody>
      </p:sp>
      <p:sp>
        <p:nvSpPr>
          <p:cNvPr id="122" name="Text 122"/>
          <p:cNvSpPr txBox="1"/>
          <p:nvPr/>
        </p:nvSpPr>
        <p:spPr>
          <a:xfrm>
            <a:off x="8321040" y="420624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Google mới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đề xuất trong 90 ngày  ·  xin đánh giá sau liệu trình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920240" y="160020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đề xuất, </a:t>
            </a: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 sau 14 ngày dữ liệu đầu tiên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số phụ: </a:t>
            </a:r>
            <a:r>
              <a:rPr lang="vi-VN" sz="1200" b="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tin nhắn ≤5 phút  ·  khách quay lại trong 60 ngày  ·  chi phí / lịch hẹn  ·  số liệu minh họa, không cam kết doanh thu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VII. PHÂN BỔ NGÂN SÁCH &amp;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75% ngân sách cho Facebook / Instagram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301" name="Text 301"/>
          <p:cNvSpPr/>
          <p:nvPr/>
        </p:nvSpPr>
        <p:spPr>
          <a:xfrm>
            <a:off x="640080" y="55321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trả trực tiếp cho Facebook, TikTok, Google  ·  </a:t>
            </a:r>
            <a:r>
              <a:rPr lang="en-US" sz="12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 quản lý PTT tính riêng [cần chốt theo báo giá]</a:t>
            </a:r>
            <a:endParaRPr lang="en-US" sz="1100" dirty="0"/>
          </a:p>
        </p:txBody>
      </p:sp>
      <p:graphicFrame>
        <p:nvGraphicFramePr>
          <p:cNvPr id="300" name="Table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126480" cy="3291840"/>
        </p:xfrm>
        <a:graphic>
          <a:graphicData uri="http://schemas.openxmlformats.org/drawingml/2006/table">
            <a:tbl>
              <a:tblPr/>
              <a:tblGrid>
                <a:gridCol w="2834640"/>
                <a:gridCol w="82296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Hạng mục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24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30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FB/IG: tin nhắn, quà tặng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60%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14,4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18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FB/IG: bám đuổi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15%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3,6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4,5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TikTok: đẩy video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15%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3,6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4,5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Google Maps, tìm kiếm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2,4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Tổng (≈ 800k–1 tr / ngày)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100%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24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2B2B2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30 tr</a:t>
                      </a:r>
                      <a:endParaRPr lang="en-US" sz="1300" dirty="0">
                        <a:latin typeface="Be Vietnam Pro" charset="0"/>
                        <a:ea typeface="Be Vietnam Pro" charset="0"/>
                        <a:cs typeface="Be Vietnam Pr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040880" y="2103120"/>
            <a:ext cx="4480560" cy="3931920"/>
          </a:xfrm>
          <a:prstGeom prst="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132320" y="2194560"/>
          <a:ext cx="4297680" cy="3337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0" name="Text 140"/>
          <p:cNvSpPr txBox="1"/>
          <p:nvPr/>
        </p:nvSpPr>
        <p:spPr>
          <a:xfrm>
            <a:off x="7178040" y="5577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vi-VN" sz="11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800.000–1.000.000 đ / ngày ≈ 24–30 triệu / tháng</a:t>
            </a:r>
          </a:p>
          <a:p>
            <a:pPr algn="ctr" indent="0" marL="0">
              <a:buNone/>
            </a:pPr>
            <a:r>
              <a:rPr lang="vi-VN" sz="11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 lệ là đề xuất, điều chỉnh sau 14 ngày theo kênh hiệu quả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II. THỊ TRƯỜNG &amp; ĐỊNH VỊ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Giá Tĩnh Viên nằm giữa thị trường quanh Hòa Hưng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2" name="Text 72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Massage 90 phút: </a:t>
            </a:r>
            <a:r>
              <a:rPr lang="vi-VN" sz="1100" b="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Tĩnh Viên 669k so với Nguyệt Lâu 990k. Thời lượng các gói khác nhau (45–140 phút); Bà Ba chỉ có 1 mức 45 phút.</a:t>
            </a:r>
          </a:p>
          <a:p>
            <a:pPr indent="0" marL="0">
              <a:buNone/>
            </a:pPr>
            <a:r>
              <a:rPr lang="vi-VN" sz="11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(10/2026): </a:t>
            </a:r>
            <a:r>
              <a:rPr lang="vi-VN" sz="1100" b="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website Tĩnh Viên, Nguyệt Lâu, Miyako, Cô Ba  ·  wikithammy.com (Rêu Spa)  ·  ohbeauti.vn (Bà Ba)</a:t>
            </a:r>
          </a:p>
        </p:txBody>
      </p:sp>
      <p:graphicFrame>
        <p:nvGraphicFramePr>
          <p:cNvPr id="73" name="Chart 72"/>
          <p:cNvGraphicFramePr>
            <a:graphicFrameLocks noGrp="1"/>
          </p:cNvGraphicFramePr>
          <p:nvPr/>
        </p:nvGraphicFramePr>
        <p:xfrm>
          <a:off x="640080" y="1920240"/>
          <a:ext cx="108813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VI. NỘI DUNG &amp; GIỮ CHÂN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Quy trình tiếp nhận khách: không bỏ sót tin nhắn nào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22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khách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vào CRM rs.pttads.vn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Quảng cáo, Zalo, tin nhắn, hotline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thiết lập</a:t>
            </a:r>
          </a:p>
        </p:txBody>
      </p:sp>
      <p:sp>
        <p:nvSpPr>
          <p:cNvPr id="12" name="Shape 10"/>
          <p:cNvSpPr/>
          <p:nvPr/>
        </p:nvSpPr>
        <p:spPr>
          <a:xfrm>
            <a:off x="420624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4068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42900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22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≤5 phút</a:t>
            </a:r>
          </a:p>
        </p:txBody>
      </p:sp>
      <p:sp>
        <p:nvSpPr>
          <p:cNvPr id="16" name="Text 14"/>
          <p:cNvSpPr/>
          <p:nvPr/>
        </p:nvSpPr>
        <p:spPr>
          <a:xfrm>
            <a:off x="342900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 vấn gói, giữ lịch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kịch bản tư vấn mẫu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Tiệm trực [cần chốt người trực]</a:t>
            </a:r>
          </a:p>
        </p:txBody>
      </p:sp>
      <p:sp>
        <p:nvSpPr>
          <p:cNvPr id="17" name="Shape 15"/>
          <p:cNvSpPr/>
          <p:nvPr/>
        </p:nvSpPr>
        <p:spPr>
          <a:xfrm>
            <a:off x="6995160" y="237744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229600" y="2926080"/>
            <a:ext cx="2377440" cy="0"/>
          </a:xfrm>
          <a:prstGeom prst="line">
            <a:avLst/>
          </a:prstGeom>
          <a:noFill/>
          <a:ln w="25400">
            <a:solidFill>
              <a:srgbClr val="D9D1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2179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22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Nhắc lịch</a:t>
            </a:r>
          </a:p>
        </p:txBody>
      </p:sp>
      <p:sp>
        <p:nvSpPr>
          <p:cNvPr id="21" name="Text 19"/>
          <p:cNvSpPr/>
          <p:nvPr/>
        </p:nvSpPr>
        <p:spPr>
          <a:xfrm>
            <a:off x="621792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Zalo trước 2–3 giờ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 nhận giờ, chỉ đường 151 Hòa Hưng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Tiệm</a:t>
            </a:r>
          </a:p>
        </p:txBody>
      </p:sp>
      <p:sp>
        <p:nvSpPr>
          <p:cNvPr id="22" name="Shape 20"/>
          <p:cNvSpPr/>
          <p:nvPr/>
        </p:nvSpPr>
        <p:spPr>
          <a:xfrm>
            <a:off x="9784080" y="2377440"/>
            <a:ext cx="1097280" cy="1097280"/>
          </a:xfrm>
          <a:prstGeom prst="ellipse">
            <a:avLst/>
          </a:prstGeom>
          <a:solidFill>
            <a:srgbClr val="A9864E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377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0684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vi-VN" sz="22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buổi</a:t>
            </a:r>
          </a:p>
        </p:txBody>
      </p:sp>
      <p:sp>
        <p:nvSpPr>
          <p:cNvPr id="25" name="Text 23"/>
          <p:cNvSpPr/>
          <p:nvPr/>
        </p:nvSpPr>
        <p:spPr>
          <a:xfrm>
            <a:off x="900684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 đánh giá Google Maps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4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Tặng ưu đãi quay lại</a:t>
            </a:r>
          </a:p>
          <a:p>
            <a:pPr algn="ctr" indent="0" marL="0">
              <a:spcBef>
                <a:spcPts val="300"/>
              </a:spcBef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Tiệm  ·  PTT đo trên CRM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vi-VN" sz="1300" dirty="0" b="1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 tắc: </a:t>
            </a:r>
            <a:r>
              <a:rPr lang="vi-VN" sz="1300" b="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đầu mối, mọi khách đều có trong CRM để đo nguồn và nhắc lịch  ·  người trực tin nhắn trong và ngoài giờ mở cửa [cần chốt]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VII. PHÂN BỔ NGÂN SÁCH &amp;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KPI dự kiến: 24 tr và 30 tr / tháng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 định: 75.000 đ / tin nhắn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 nhắn ≈ ngân sách ÷ 75.000 đ: 320 (24 tr)  ·  400 (30 tr)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 lịch 25%  ·  khách đến 70%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hẹn 80 · 100; khách đến 56 · 70 / tháng (khớp mục tiêu ≥70% trang 12)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572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vi-VN" sz="17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liệu minh họa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vi-VN" sz="13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đề xuất, chốt sau 14 ngày chạy thử  ·  không cam kết doanh thu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103120"/>
            <a:ext cx="4480560" cy="3931920"/>
          </a:xfrm>
          <a:prstGeom prst="rect">
            <a:avLst/>
          </a:prstGeom>
          <a:solidFill>
            <a:srgbClr val="EF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132320" y="2194560"/>
          <a:ext cx="4297680" cy="3337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1" name="Text 141"/>
          <p:cNvSpPr txBox="1"/>
          <p:nvPr/>
        </p:nvSpPr>
        <p:spPr>
          <a:xfrm>
            <a:off x="7178040" y="5577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vi-VN" sz="11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Xanh: 24 tr / tháng  ·  Đồng: 30 tr / tháng</a:t>
            </a:r>
          </a:p>
          <a:p>
            <a:pPr algn="ctr" indent="0" marL="0">
              <a:buNone/>
            </a:pPr>
            <a:r>
              <a:rPr lang="vi-VN" sz="11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Phễu: tin nhắn › lịch hẹn (25%) › khách đến (70%)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ầy lễ tân Massage Tĩnh Viê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Vì sao chọn PTT &amp; 4 bước tiếp theo</a:t>
            </a:r>
            <a:endParaRPr lang="en-US" sz="3600" dirty="0"/>
          </a:p>
        </p:txBody>
      </p:sp>
      <p:sp>
        <p:nvSpPr>
          <p:cNvPr id="127" name="Text 127"/>
          <p:cNvSpPr txBox="1"/>
          <p:nvPr/>
        </p:nvSpPr>
        <p:spPr>
          <a:xfrm>
            <a:off x="4937760" y="557784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3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 hệ PTT: </a:t>
            </a:r>
            <a:r>
              <a:rPr lang="vi-VN" sz="1300" dirty="0" b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pttads.vn  ·  bắt đầu bước 1 ngay sau buổi trình bày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493776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26</a:t>
            </a:r>
          </a:p>
        </p:txBody>
      </p:sp>
      <p:sp>
        <p:nvSpPr>
          <p:cNvPr id="200" name="Num 1"/>
          <p:cNvSpPr txBox="1"/>
          <p:nvPr/>
        </p:nvSpPr>
        <p:spPr>
          <a:xfrm>
            <a:off x="4937760" y="15544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</a:p>
        </p:txBody>
      </p:sp>
      <p:sp>
        <p:nvSpPr>
          <p:cNvPr id="201" name="Item 1"/>
          <p:cNvSpPr txBox="1"/>
          <p:nvPr/>
        </p:nvSpPr>
        <p:spPr>
          <a:xfrm>
            <a:off x="5760720" y="155448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Marketing tích hợp một đầu mối: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chiến lược, quảng cáo, nội dung, quay dựng tại tiệm</a:t>
            </a:r>
          </a:p>
        </p:txBody>
      </p:sp>
      <p:sp>
        <p:nvSpPr>
          <p:cNvPr id="202" name="Rule 1"/>
          <p:cNvSpPr/>
          <p:nvPr/>
        </p:nvSpPr>
        <p:spPr>
          <a:xfrm>
            <a:off x="4937760" y="214884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03" name="Num 2"/>
          <p:cNvSpPr txBox="1"/>
          <p:nvPr/>
        </p:nvSpPr>
        <p:spPr>
          <a:xfrm>
            <a:off x="4937760" y="21945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</a:t>
            </a:r>
          </a:p>
        </p:txBody>
      </p:sp>
      <p:sp>
        <p:nvSpPr>
          <p:cNvPr id="204" name="Item 2"/>
          <p:cNvSpPr txBox="1"/>
          <p:nvPr/>
        </p:nvSpPr>
        <p:spPr>
          <a:xfrm>
            <a:off x="5760720" y="219456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CRM riêng rs.pttads.vn: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 từng khách, báo cáo minh bạch hằng tuần</a:t>
            </a:r>
          </a:p>
        </p:txBody>
      </p:sp>
      <p:sp>
        <p:nvSpPr>
          <p:cNvPr id="205" name="Rule 2"/>
          <p:cNvSpPr/>
          <p:nvPr/>
        </p:nvSpPr>
        <p:spPr>
          <a:xfrm>
            <a:off x="4937760" y="278892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06" name="Num 3"/>
          <p:cNvSpPr txBox="1"/>
          <p:nvPr/>
        </p:nvSpPr>
        <p:spPr>
          <a:xfrm>
            <a:off x="4937760" y="283464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</a:p>
        </p:txBody>
      </p:sp>
      <p:sp>
        <p:nvSpPr>
          <p:cNvPr id="207" name="Item 3"/>
          <p:cNvSpPr txBox="1"/>
          <p:nvPr/>
        </p:nvSpPr>
        <p:spPr>
          <a:xfrm>
            <a:off x="5760720" y="283464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Duyệt kế hoạch &amp; chốt ngân sách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24–30 tr / tháng</a:t>
            </a:r>
          </a:p>
        </p:txBody>
      </p:sp>
      <p:sp>
        <p:nvSpPr>
          <p:cNvPr id="208" name="Rule 3"/>
          <p:cNvSpPr/>
          <p:nvPr/>
        </p:nvSpPr>
        <p:spPr>
          <a:xfrm>
            <a:off x="4937760" y="342900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09" name="Num 4"/>
          <p:cNvSpPr txBox="1"/>
          <p:nvPr/>
        </p:nvSpPr>
        <p:spPr>
          <a:xfrm>
            <a:off x="4937760" y="34747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</a:p>
        </p:txBody>
      </p:sp>
      <p:sp>
        <p:nvSpPr>
          <p:cNvPr id="210" name="Item 4"/>
          <p:cNvSpPr txBox="1"/>
          <p:nvPr/>
        </p:nvSpPr>
        <p:spPr>
          <a:xfrm>
            <a:off x="5760720" y="347472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 hợp đồng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 báo giá phí quản lý</a:t>
            </a:r>
          </a:p>
        </p:txBody>
      </p:sp>
      <p:sp>
        <p:nvSpPr>
          <p:cNvPr id="211" name="Rule 4"/>
          <p:cNvSpPr/>
          <p:nvPr/>
        </p:nvSpPr>
        <p:spPr>
          <a:xfrm>
            <a:off x="4937760" y="406908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12" name="Num 5"/>
          <p:cNvSpPr txBox="1"/>
          <p:nvPr/>
        </p:nvSpPr>
        <p:spPr>
          <a:xfrm>
            <a:off x="4937760" y="411480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</a:p>
        </p:txBody>
      </p:sp>
      <p:sp>
        <p:nvSpPr>
          <p:cNvPr id="213" name="Item 5"/>
          <p:cNvSpPr txBox="1"/>
          <p:nvPr/>
        </p:nvSpPr>
        <p:spPr>
          <a:xfrm>
            <a:off x="5760720" y="411480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Buổi quay đầu tiên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 thiết lập tài khoản quảng cáo, CRM</a:t>
            </a:r>
          </a:p>
        </p:txBody>
      </p:sp>
      <p:sp>
        <p:nvSpPr>
          <p:cNvPr id="214" name="Rule 5"/>
          <p:cNvSpPr/>
          <p:nvPr/>
        </p:nvSpPr>
        <p:spPr>
          <a:xfrm>
            <a:off x="4937760" y="470916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  <p:sp>
        <p:nvSpPr>
          <p:cNvPr id="215" name="Num 6"/>
          <p:cNvSpPr txBox="1"/>
          <p:nvPr/>
        </p:nvSpPr>
        <p:spPr>
          <a:xfrm>
            <a:off x="4937760" y="47548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2200" b="1" dirty="0">
                <a:solidFill>
                  <a:srgbClr val="A986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</a:p>
        </p:txBody>
      </p:sp>
      <p:sp>
        <p:nvSpPr>
          <p:cNvPr id="216" name="Item 6"/>
          <p:cNvSpPr txBox="1"/>
          <p:nvPr/>
        </p:nvSpPr>
        <p:spPr>
          <a:xfrm>
            <a:off x="5760720" y="475488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500" b="1" dirty="0">
                <a:solidFill>
                  <a:srgbClr val="1E4D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thử 14 ngày </a:t>
            </a:r>
            <a:r>
              <a:rPr lang="vi-VN" sz="15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 chốt KPI cùng tiệm</a:t>
            </a:r>
          </a:p>
        </p:txBody>
      </p:sp>
      <p:sp>
        <p:nvSpPr>
          <p:cNvPr id="217" name="Rule 6"/>
          <p:cNvSpPr/>
          <p:nvPr/>
        </p:nvSpPr>
        <p:spPr>
          <a:xfrm>
            <a:off x="4937760" y="5349240"/>
            <a:ext cx="6583680" cy="0"/>
          </a:xfrm>
          <a:prstGeom prst="line">
            <a:avLst/>
          </a:prstGeom>
          <a:noFill/>
          <a:ln w="9525">
            <a:solidFill>
              <a:srgbClr val="D9D1BF"/>
            </a:solidFill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òng xông ướt, xông khô sauna và khay trà thảo dượ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36118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Không gian Indochine, trải nghiệm trọn gói</a:t>
            </a:r>
            <a:endParaRPr lang="en-US" sz="5200" dirty="0"/>
          </a:p>
        </p:txBody>
      </p:sp>
      <p:sp>
        <p:nvSpPr>
          <p:cNvPr id="130" name="Text 130"/>
          <p:cNvSpPr txBox="1"/>
          <p:nvPr/>
        </p:nvSpPr>
        <p:spPr>
          <a:xfrm>
            <a:off x="731520" y="4709160"/>
            <a:ext cx="107289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vi-VN" sz="16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Xông ướt  ·  Xông khô sauna  ·  Thưởng trà thảo dược sau liệu trình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vi-VN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Gội dưỡng sinh 10 / 20 / 25 bước  ·  Dầu gội “3 KHÔNG”: không sulfate, silicone, paraben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vi-VN" sz="18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thật tại tiệm: chất liệu sẵn có cho quảng cáo và video ngắn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990" name="PageNum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VIII. LỘ TRÌNH &amp; HỢP TÁC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Báo cáo &amp; phối hợp: minh bạch mỗi tuần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" cy="54864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Báo cáo tuần qua Zalo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tin nhắn, lịch hẹn, khách đến, chi phí quảng cáo; việc của tuần tới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0312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Báo cáo tháng + họp đánh giá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 KPI trang 12, giữ nội dung và ưu đãi tốt, điều chỉnh ngân sách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PTT phụ trách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Chiến lược, quảng cáo, nội dung, quay dựng, CRM, báo cáo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1828800"/>
          </a:xfrm>
          <a:prstGeom prst="rect">
            <a:avLst/>
          </a:prstGeom>
          <a:solidFill>
            <a:srgbClr val="F1ECE1"/>
          </a:solidFill>
          <a:ln w="9525">
            <a:solidFill>
              <a:srgbClr val="D9D1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91440" cy="1828800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Tiệm phụ trách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Trực tin nhắn, cung cấp ưu đãi và lịch quay, KTV xuất hiện, xác nhận khách đến</a:t>
            </a:r>
            <a:endParaRPr lang="en-US" sz="1600" dirty="0"/>
          </a:p>
        </p:txBody>
      </p:sp>
      <p:sp>
        <p:nvSpPr>
          <p:cNvPr id="80" name="Text 80"/>
          <p:cNvSpPr txBox="1"/>
          <p:nvPr/>
        </p:nvSpPr>
        <p:spPr>
          <a:xfrm>
            <a:off x="1920240" y="160020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200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Zalo chung PTT – tiệm cho việc hằng ngày  ·  bảng số liệu CRM rs.pttads.vn xem bất cứ lúc nào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óc phòng chờ cửa vòm, phòng chờ cửa tròn, ấm trà thảo dượ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A9864E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4D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Cảm ơn</a:t>
            </a:r>
            <a:endParaRPr lang="en-US" sz="5200" dirty="0"/>
          </a:p>
        </p:txBody>
      </p:sp>
      <p:sp>
        <p:nvSpPr>
          <p:cNvPr id="130" name="Text 130"/>
          <p:cNvSpPr txBox="1"/>
          <p:nvPr/>
        </p:nvSpPr>
        <p:spPr>
          <a:xfrm>
            <a:off x="731520" y="4709160"/>
            <a:ext cx="107289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vi-VN" sz="1600" dirty="0">
                <a:solidFill>
                  <a:srgbClr val="2B2B2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Massage Tĩnh Viên  ·  151 Hòa Hưng, P. Hòa Hưng, TP.HCM  ·  Hotline / Zalo 0927.717.717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vi-VN" sz="16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Solutions  ·  pttads.vn  ·  CRM rs.pttads.vn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vi-VN" sz="1800" b="1" dirty="0">
                <a:solidFill>
                  <a:srgbClr val="A986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Chạm tĩnh thân tâm – An yên trọn vẹn: sẵn sàng khởi động khi kế hoạch được duyệt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vi-VN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PTT Advertising  ·  Massage Tĩnh Viên</a:t>
            </a:r>
          </a:p>
        </p:txBody>
      </p:sp>
      <p:sp>
        <p:nvSpPr>
          <p:cNvPr id="990" name="PageNum"/>
          <p:cNvSpPr/>
          <p:nvPr/>
        </p:nvSpPr>
        <p:spPr>
          <a:xfrm>
            <a:off x="10881360" y="6263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A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Moss &amp; Bronze</dc:title>
  <dc:subject>PptxGenJS Presentation</dc:subject>
  <dc:creator>PptxGenJS</dc:creator>
  <cp:lastModifiedBy>PptxGenJS</cp:lastModifiedBy>
  <cp:revision>1</cp:revision>
  <dcterms:created xsi:type="dcterms:W3CDTF">2026-10-07T08:01:01Z</dcterms:created>
  <dcterms:modified xsi:type="dcterms:W3CDTF">2026-10-07T08:01:01Z</dcterms:modified>
</cp:coreProperties>
</file>