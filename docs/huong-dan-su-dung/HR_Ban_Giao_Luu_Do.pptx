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8046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HR — Sơ đồ luồng quản lý</a:t>
            </a:r>
          </a:p>
          <a:p>
            <a:pPr>
              <a:defRPr sz="2200">
                <a:solidFill>
                  <a:srgbClr val="4A7C5C"/>
                </a:solidFill>
              </a:defRPr>
            </a:pPr>
            <a:r>
              <a:t>Khung bàn giao &amp; đào tạo khách hàng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RNOSAI · rs.pttads.vn · Phiên bản 1.0 · 2026-08-25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Mục tiêu bàn giao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Tài liệu: docs/huong-dan-su-dung/22-hr-handover-flow-and-guides.md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Sơ đồ end-to-end: NV mới → Hồ sơ 360 → Chính thức → Vận hành → Offboard</a:t>
            </a:r>
          </a:p>
          <a:p>
            <a:pPr>
              <a:spcAft>
                <a:spcPts val="800"/>
              </a:spcAft>
              <a:defRPr sz="1600"/>
            </a:pPr>
            <a:r>
              <a:t>Employee File OS P1–P8: hồ sơ, ví, HĐ, BH, chấm công, payroll</a:t>
            </a:r>
          </a:p>
          <a:p>
            <a:pPr>
              <a:spcAft>
                <a:spcPts val="800"/>
              </a:spcAft>
              <a:defRPr sz="1600"/>
            </a:pPr>
            <a:r>
              <a:t>Vai trò: HR · Manager · NV · IT · Kế toán</a:t>
            </a:r>
          </a:p>
          <a:p>
            <a:pPr>
              <a:spcAft>
                <a:spcPts val="800"/>
              </a:spcAft>
              <a:defRPr sz="1600"/>
            </a:pPr>
            <a:r>
              <a:t>18 file hướng dẫn chi tiết (22a–22r) — soạn theo template bàn giao</a:t>
            </a:r>
          </a:p>
          <a:p>
            <a:pPr>
              <a:spcAft>
                <a:spcPts val="800"/>
              </a:spcAft>
              <a:defRPr sz="1600"/>
            </a:pPr>
            <a:r>
              <a:t>Kịch bản training tuần đầu cho NV mới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Bản đồ module HR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Platform → HR Hub → Employee File → Chấm công → Payroll</a:t>
            </a:r>
          </a:p>
        </p:txBody>
      </p:sp>
      <p:pic>
        <p:nvPicPr>
          <p:cNvPr id="5" name="Picture 4" descr="diagram_01_modul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47834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Luồng chính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Giai đoạn 0 (Setup) → 5 (Offboard) + Gate BR-HR-130</a:t>
            </a:r>
          </a:p>
        </p:txBody>
      </p:sp>
      <p:pic>
        <p:nvPicPr>
          <p:cNvPr id="5" name="Picture 4" descr="diagram_02_e2e_ph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47834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Luồng theo vai trò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HR · Manager · NV · IT · Kế toán</a:t>
            </a:r>
          </a:p>
        </p:txBody>
      </p:sp>
      <p:pic>
        <p:nvPicPr>
          <p:cNvPr id="5" name="Picture 4" descr="diagram_03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47834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Luồng chấm công → lương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Máy/GPS → punch → rollup → payroll → payslip</a:t>
            </a:r>
          </a:p>
        </p:txBody>
      </p:sp>
      <p:pic>
        <p:nvPicPr>
          <p:cNvPr id="5" name="Picture 4" descr="diagram_04_attendance_payro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47834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Lifecycle 8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Offer → Onboard → Thử việc → Chính thức → … → Lưu trữ</a:t>
            </a:r>
          </a:p>
        </p:txBody>
      </p:sp>
      <p:pic>
        <p:nvPicPr>
          <p:cNvPr id="5" name="Picture 4" descr="diagram_05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47834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Sơ đồ tổng hợp một trang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Poster training / wall chart</a:t>
            </a:r>
          </a:p>
        </p:txBody>
      </p:sp>
      <p:pic>
        <p:nvPicPr>
          <p:cNvPr id="5" name="Picture 4" descr="diagram_06_one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8503920" cy="47834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Kịch bản tuần đầu — NV mới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§7 — Training HR + NV mới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D0: HR tạo user + gán org · NV đăng nhập lần đầu → thấy menu HR</a:t>
            </a:r>
          </a:p>
          <a:p>
            <a:pPr>
              <a:spcAft>
                <a:spcPts val="800"/>
              </a:spcAft>
              <a:defRPr sz="1500"/>
            </a:pPr>
            <a:r>
              <a:t>D1: HR nhập định danh + địa chỉ (P1) · Tạo thẻ CCCD + upload ví (P4)</a:t>
            </a:r>
          </a:p>
          <a:p>
            <a:pPr>
              <a:spcAft>
                <a:spcPts val="800"/>
              </a:spcAft>
              <a:defRPr sz="1500"/>
            </a:pPr>
            <a:r>
              <a:t>D2: HR tạo HĐ thử việc (P2) · Gán PIN máy chấm công (nếu dùng máy)</a:t>
            </a:r>
          </a:p>
          <a:p>
            <a:pPr>
              <a:spcAft>
                <a:spcPts val="800"/>
              </a:spcAft>
              <a:defRPr sz="1500"/>
            </a:pPr>
            <a:r>
              <a:t>D3: HR tạo site GPS + gán NV · NV chấm vào ca trên /crm/payroll/me</a:t>
            </a:r>
          </a:p>
          <a:p>
            <a:pPr>
              <a:spcAft>
                <a:spcPts val="800"/>
              </a:spcAft>
              <a:defRPr sz="1500"/>
            </a:pPr>
            <a:r>
              <a:t>D3–D5: NV nộp bằng/chứng chỉ tại /crm/hr/my-wallet</a:t>
            </a:r>
          </a:p>
          <a:p>
            <a:pPr>
              <a:spcAft>
                <a:spcPts val="800"/>
              </a:spcAft>
              <a:defRPr sz="1500"/>
            </a:pPr>
            <a:r>
              <a:t>D5: HR Hub duyệt ví + GPS pending → ví % tăng, rollup OK</a:t>
            </a:r>
          </a:p>
          <a:p>
            <a:pPr>
              <a:spcAft>
                <a:spcPts val="800"/>
              </a:spcAft>
              <a:defRPr sz="1500"/>
            </a:pPr>
            <a:r>
              <a:t>Cuối tháng: HR/Kế toán review /crm/payroll · NV xem payslip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 trận tính năng (tóm tắt)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§6 — 18 tính năng · file chi tiết 22a–22r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P0 go-live: 22a Setup · 22b NV mới · 22e Định danh · 22f Ví HR · 22c HR Hub</a:t>
            </a:r>
          </a:p>
          <a:p>
            <a:pPr>
              <a:spcAft>
                <a:spcPts val="800"/>
              </a:spcAft>
              <a:defRPr sz="1500"/>
            </a:pPr>
            <a:r>
              <a:t>P1 gate chính thức: 22g HĐ · 22h BH · 22i Lifecycle · 22j Self-wallet</a:t>
            </a:r>
          </a:p>
          <a:p>
            <a:pPr>
              <a:spcAft>
                <a:spcPts val="800"/>
              </a:spcAft>
              <a:defRPr sz="1500"/>
            </a:pPr>
            <a:r>
              <a:t>P1 chấm công: 22l Máy chấm · 22m GPS · 22n Tab chấm công</a:t>
            </a:r>
          </a:p>
          <a:p>
            <a:pPr>
              <a:spcAft>
                <a:spcPts val="800"/>
              </a:spcAft>
              <a:defRPr sz="1500"/>
            </a:pPr>
            <a:r>
              <a:t>P2 cuối tháng: 22o Leave · 22p Payroll admin · 22q Payslip NV</a:t>
            </a:r>
          </a:p>
          <a:p>
            <a:pPr>
              <a:spcAft>
                <a:spcPts val="800"/>
              </a:spcAft>
              <a:defRPr sz="1500"/>
            </a:pPr>
            <a:r>
              <a:t>P2 admin: 22k Export kế toán · 22r RBAC matrix</a:t>
            </a:r>
          </a:p>
          <a:p>
            <a:pPr>
              <a:spcAft>
                <a:spcPts val="800"/>
              </a:spcAft>
              <a:defRPr sz="1500"/>
            </a:pPr>
            <a:r>
              <a:t>Tham chiếu đầy đủ: 17-hr-employee-file-os.md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Điều kiện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§10 — Checklist IT trước bàn giao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PTT_HR_EMPLOYEE_FILE=1 trong .env ptt-crm-api</a:t>
            </a:r>
          </a:p>
          <a:p>
            <a:pPr>
              <a:spcAft>
                <a:spcPts val="800"/>
              </a:spcAft>
              <a:defRPr sz="1500"/>
            </a:pPr>
            <a:r>
              <a:t>DDL P1–P8: scripts/apply_pg_ddl_hr_employee_file_p*.sh</a:t>
            </a:r>
          </a:p>
          <a:p>
            <a:pPr>
              <a:spcAft>
                <a:spcPts val="800"/>
              </a:spcAft>
              <a:defRPr sz="1500"/>
            </a:pPr>
            <a:r>
              <a:t>Ops-web build: NEXT_PUBLIC_WIN_ORG_UI=1, WIN_LEAVE_LITE=1, WIN_PAYSLIP_PORTAL=1</a:t>
            </a:r>
          </a:p>
          <a:p>
            <a:pPr>
              <a:spcAft>
                <a:spcPts val="800"/>
              </a:spcAft>
              <a:defRPr sz="1500"/>
            </a:pPr>
            <a:r>
              <a:t>Smoke: bash scripts/smoke_hr_employee_file_p8.sh pass</a:t>
            </a:r>
          </a:p>
          <a:p>
            <a:pPr>
              <a:spcAft>
                <a:spcPts val="800"/>
              </a:spcAft>
              <a:defRPr sz="1500"/>
            </a:pPr>
            <a:r>
              <a:t>RBAC: crm_staff_roster.*, crm_hr_pii.*, crm_hr_docs.*, crm_payroll_*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Bước tiếp theo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Soạn file bàn giao P0 theo template §8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1. IT hoàn tất flag + DDL + smoke test (22a)</a:t>
            </a:r>
          </a:p>
          <a:p>
            <a:pPr>
              <a:spcAft>
                <a:spcPts val="800"/>
              </a:spcAft>
              <a:defRPr sz="1600"/>
            </a:pPr>
            <a:r>
              <a:t>2. HR training: tạo NV + hồ sơ P1/P4 (22b, 22e, 22f)</a:t>
            </a:r>
          </a:p>
          <a:p>
            <a:pPr>
              <a:spcAft>
                <a:spcPts val="800"/>
              </a:spcAft>
              <a:defRPr sz="1600"/>
            </a:pPr>
            <a:r>
              <a:t>3. Pilot 1 NV qua gate Chính thức (22i) trước go-live rộng</a:t>
            </a:r>
          </a:p>
          <a:p>
            <a:pPr>
              <a:spcAft>
                <a:spcPts val="800"/>
              </a:spcAft>
              <a:defRPr sz="1600"/>
            </a:pPr>
            <a:r>
              <a:t>4. Bật chấm công máy/GPS theo nhu cầu (22l, 22m)</a:t>
            </a:r>
          </a:p>
          <a:p>
            <a:pPr>
              <a:spcAft>
                <a:spcPts val="800"/>
              </a:spcAft>
              <a:defRPr sz="1600"/>
            </a:pPr>
            <a:r>
              <a:t>5. Cuối tháng đầu: chạy payroll lite + payslip (22p, 22q)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Liên hệ: HR dự án + Tech Lead PTT (điền tại buổi bàn giao)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