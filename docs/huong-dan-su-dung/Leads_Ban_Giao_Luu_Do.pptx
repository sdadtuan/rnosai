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Leads — Sơ đồ luồng quản lý</a:t>
            </a:r>
          </a:p>
          <a:p>
            <a:pPr>
              <a:defRPr sz="2200">
                <a:solidFill>
                  <a:srgbClr val="4A7C5C"/>
                </a:solidFill>
              </a:defRPr>
            </a:pPr>
            <a:r>
              <a:t>Khung bàn giao &amp; đào tạo khách hàng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RNOSAI · rs.pttads.vn · Phiên bản 1.0 · 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Mục tiêu bàn giao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Tài liệu: docs/huong-dan-su-dung/23-leads-handover-flow-and-guides.md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Sơ đồ luồng end-to-end từ lead mới → Won/Lost → Delivery</a:t>
            </a:r>
          </a:p>
          <a:p>
            <a:pPr>
              <a:spcAft>
                <a:spcPts val="800"/>
              </a:spcAft>
              <a:defRPr sz="1600"/>
            </a:pPr>
            <a:r>
              <a:t>Phân biệt 2 pipeline: B2B Sales vs CSKH vận hành (spa)</a:t>
            </a:r>
          </a:p>
          <a:p>
            <a:pPr>
              <a:spcAft>
                <a:spcPts val="800"/>
              </a:spcAft>
              <a:defRPr sz="1600"/>
            </a:pPr>
            <a:r>
              <a:t>Vai trò: AM · CSKH · Solution · GDKD · Marketing · IT</a:t>
            </a:r>
          </a:p>
          <a:p>
            <a:pPr>
              <a:spcAft>
                <a:spcPts val="800"/>
              </a:spcAft>
              <a:defRPr sz="1600"/>
            </a:pPr>
            <a:r>
              <a:t>28 file hướng dẫn chi tiết (23a–23ac) — soạn theo template bàn giao</a:t>
            </a:r>
          </a:p>
          <a:p>
            <a:pPr>
              <a:spcAft>
                <a:spcPts val="800"/>
              </a:spcAft>
              <a:defRPr sz="1600"/>
            </a:pPr>
            <a:r>
              <a:t>Kịch bản training 48 giờ đầu khi có lead B2B thật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Hai luồng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Prospect B2B ≠ lead spa client đang chạy ads</a:t>
            </a:r>
          </a:p>
        </p:txBody>
      </p:sp>
      <p:pic>
        <p:nvPicPr>
          <p:cNvPr id="5" name="Picture 4" descr="diagram_01_two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Bản đồ module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Setup → Ingest → Pipeline → Pre-sales → GDKD</a:t>
            </a:r>
          </a:p>
        </p:txBody>
      </p:sp>
      <p:pic>
        <p:nvPicPr>
          <p:cNvPr id="5" name="Picture 4" descr="diagram_02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chính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Giai đoạn 0 (Setup) → 5 (Won) + nhánh CSKH spa</a:t>
            </a:r>
          </a:p>
        </p:txBody>
      </p:sp>
      <p:pic>
        <p:nvPicPr>
          <p:cNvPr id="5" name="Picture 4" descr="diagram_03_e2e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theo vai trò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AM · CSKH · Solution · GDKD · Marketing/IT</a:t>
            </a:r>
          </a:p>
        </p:txBody>
      </p:sp>
      <p:pic>
        <p:nvPicPr>
          <p:cNvPr id="5" name="Picture 4" descr="diagram_04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dữ liệu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Webhook → map dự án → AI → assign → SLA</a:t>
            </a:r>
          </a:p>
        </p:txBody>
      </p:sp>
      <p:pic>
        <p:nvPicPr>
          <p:cNvPr id="5" name="Picture 4" descr="diagram_05_data_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Trạng thái &amp;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Mới → B2 → Consult → Proposal → Won + gate R5/GDKD</a:t>
            </a:r>
          </a:p>
        </p:txBody>
      </p:sp>
      <p:pic>
        <p:nvPicPr>
          <p:cNvPr id="5" name="Picture 4" descr="diagram_06_status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Sơ đồ tổng hợp một trang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 cho phòng training / wall poster</a:t>
            </a:r>
          </a:p>
        </p:txBody>
      </p:sp>
      <p:pic>
        <p:nvPicPr>
          <p:cNvPr id="5" name="Picture 4" descr="diagram_07_on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Kịch bản 48 giờ — Lead B2B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§7 — Training GDKD + AM +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T-7 ngày: IT map Page/Form Meta → dự án PTT · test không rơi Unmatched</a:t>
            </a:r>
          </a:p>
          <a:p>
            <a:pPr>
              <a:spcAft>
                <a:spcPts val="800"/>
              </a:spcAft>
              <a:defRPr sz="1500"/>
            </a:pPr>
            <a:r>
              <a:t>T+0: AM mở Inbox ≤2p → tick consent → Gọi ≤15p → log Activity</a:t>
            </a:r>
          </a:p>
          <a:p>
            <a:pPr>
              <a:spcAft>
                <a:spcPts val="800"/>
              </a:spcAft>
              <a:defRPr sz="1500"/>
            </a:pPr>
            <a:r>
              <a:t>T+0 ≤2h: Bắt đầu Intake BANT trên /crm/intake?lead_id=…</a:t>
            </a:r>
          </a:p>
          <a:p>
            <a:pPr>
              <a:spcAft>
                <a:spcPts val="800"/>
              </a:spcAft>
              <a:defRPr sz="1500"/>
            </a:pPr>
            <a:r>
              <a:t>T+1: Hoàn thành gate B2 care ✓ · GDKD release review queue (nếu có)</a:t>
            </a:r>
          </a:p>
          <a:p>
            <a:pPr>
              <a:spcAft>
                <a:spcPts val="800"/>
              </a:spcAft>
              <a:defRPr sz="1500"/>
            </a:pPr>
            <a:r>
              <a:t>T+1–2: Handoff Solution queue · Solution claim case</a:t>
            </a:r>
          </a:p>
          <a:p>
            <a:pPr>
              <a:spcAft>
                <a:spcPts val="800"/>
              </a:spcAft>
              <a:defRPr sz="1500"/>
            </a:pPr>
            <a:r>
              <a:t>T+3–5: KH MKT sơ bộ (R5) trên tab Tư vấn</a:t>
            </a:r>
          </a:p>
          <a:p>
            <a:pPr>
              <a:spcAft>
                <a:spcPts val="800"/>
              </a:spcAft>
              <a:defRPr sz="1500"/>
            </a:pPr>
            <a:r>
              <a:t>T+5–7: Deal Room + Proposal · GDKD approve discount nếu cần</a:t>
            </a:r>
          </a:p>
          <a:p>
            <a:pPr>
              <a:spcAft>
                <a:spcPts val="800"/>
              </a:spcAft>
              <a:defRPr sz="1500"/>
            </a:pPr>
            <a:r>
              <a:t>T+7–14: Hub HĐ Active → Customer 360 → Service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 trận tính năng (tóm tắt)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§6 — 29 tính năng · file chi tiết 23a–23ac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P0 go-live: 23a Setup · 23b Dự án PTT · 23k Inbox · 23l Chi tiết · 23m Softphone</a:t>
            </a:r>
          </a:p>
          <a:p>
            <a:pPr>
              <a:spcAft>
                <a:spcPts val="800"/>
              </a:spcAft>
              <a:defRPr sz="1500"/>
            </a:pPr>
            <a:r>
              <a:t>P0 qualify: 23d–23f Nguồn Meta/Zalo/Khác · 23q Intake BANT</a:t>
            </a:r>
          </a:p>
          <a:p>
            <a:pPr>
              <a:spcAft>
                <a:spcPts val="800"/>
              </a:spcAft>
              <a:defRPr sz="1500"/>
            </a:pPr>
            <a:r>
              <a:t>P1 sales: 23r Pre-sales · 23s Solution queue · 23u Deal Room · 23p Review queue</a:t>
            </a:r>
          </a:p>
          <a:p>
            <a:pPr>
              <a:spcAft>
                <a:spcPts val="800"/>
              </a:spcAft>
              <a:defRPr sz="1500"/>
            </a:pPr>
            <a:r>
              <a:t>P1 gov: 23x GDKD command · 23y Speed-to-lead · 23z CSKH KPI board</a:t>
            </a:r>
          </a:p>
          <a:p>
            <a:pPr>
              <a:spcAft>
                <a:spcPts val="800"/>
              </a:spcAft>
              <a:defRPr sz="1500"/>
            </a:pPr>
            <a:r>
              <a:t>P2 post-won: 23v Proposal · 23w Hub HĐ · 23aa Delivery · 23ab Mobile PWA</a:t>
            </a:r>
          </a:p>
          <a:p>
            <a:pPr>
              <a:spcAft>
                <a:spcPts val="800"/>
              </a:spcAft>
              <a:defRPr sz="1500"/>
            </a:pPr>
            <a:r>
              <a:t>Tham chiếu đầy đủ: huong-dan-phan-he-lead-day-du.md (667 dòng)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Điều kiện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§10 — Checklist IT trước bàn giao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PTT_B2B_PROJECT_OS=1 · PTT_PRESALES_ON_LEAD=1 trong .env ptt-crm-api</a:t>
            </a:r>
          </a:p>
          <a:p>
            <a:pPr>
              <a:spcAft>
                <a:spcPts val="800"/>
              </a:spcAft>
              <a:defRPr sz="1500"/>
            </a:pPr>
            <a:r>
              <a:t>DDL: scripts/apply_pg_ddl_b2b_lead_project_os.sh (+ wave W5 nếu Zalo thread)</a:t>
            </a:r>
          </a:p>
          <a:p>
            <a:pPr>
              <a:spcAft>
                <a:spcPts val="800"/>
              </a:spcAft>
              <a:defRPr sz="1500"/>
            </a:pPr>
            <a:r>
              <a:t>UAT: bash scripts/uat_b2b_project_os.sh — gate B2B-01, B2B-02</a:t>
            </a:r>
          </a:p>
          <a:p>
            <a:pPr>
              <a:spcAft>
                <a:spcPts val="800"/>
              </a:spcAft>
              <a:defRPr sz="1500"/>
            </a:pPr>
            <a:r>
              <a:t>RBAC: crm_leads.view/edit/assign · crm_b2b_projects.* · crm_gdkd.view_all_leads</a:t>
            </a:r>
          </a:p>
          <a:p>
            <a:pPr>
              <a:spcAft>
                <a:spcPts val="800"/>
              </a:spcAft>
              <a:defRPr sz="1500"/>
            </a:pPr>
            <a:r>
              <a:t>Gọi WebRTC (tuỳ chọn): PTT_B2B_CPAAS=stringee + PTT_STRINGEE_*</a:t>
            </a:r>
          </a:p>
          <a:p>
            <a:pPr>
              <a:spcAft>
                <a:spcPts val="800"/>
              </a:spcAft>
              <a:defRPr sz="1500"/>
            </a:pPr>
            <a:r>
              <a:t>Rollback nhanh: PTT_B2B_PROJECT_OS=0 → restart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Bước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Soạn file bàn giao P0 theo template §8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1. Hoàn tất Setup dự án PTT + map kênh (file 23a, 23b)</a:t>
            </a:r>
          </a:p>
          <a:p>
            <a:pPr>
              <a:spcAft>
                <a:spcPts val="800"/>
              </a:spcAft>
              <a:defRPr sz="1600"/>
            </a:pPr>
            <a:r>
              <a:t>2. Training AM: Inbox → Gọi → Chi tiết lead (23k–23m)</a:t>
            </a:r>
          </a:p>
          <a:p>
            <a:pPr>
              <a:spcAft>
                <a:spcPts val="800"/>
              </a:spcAft>
              <a:defRPr sz="1600"/>
            </a:pPr>
            <a:r>
              <a:t>3. Pilot 2 deal B2B qua Deal Room (23u) trước go-live rộng</a:t>
            </a:r>
          </a:p>
          <a:p>
            <a:pPr>
              <a:spcAft>
                <a:spcPts val="800"/>
              </a:spcAft>
              <a:defRPr sz="1600"/>
            </a:pPr>
            <a:r>
              <a:t>4. Song song: CSKH spa theo SOP Meta 24h (23i, 23z)</a:t>
            </a:r>
          </a:p>
          <a:p>
            <a:pPr>
              <a:spcAft>
                <a:spcPts val="800"/>
              </a:spcAft>
              <a:defRPr sz="1600"/>
            </a:pPr>
            <a:r>
              <a:t>5. Ký nghiệm thu UAT + hypercare 2–4 tuần post go-live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Liên hệ: AM dự án + Tech Lead PTT (điền tại buổi bàn giao)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